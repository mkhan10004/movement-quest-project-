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da3704f092453a" /><Relationship Type="http://schemas.openxmlformats.org/officeDocument/2006/relationships/extended-properties" Target="/docProps/app.xml" Id="R4c85b9329cec40ed" /><Relationship Type="http://schemas.openxmlformats.org/officeDocument/2006/relationships/officeDocument" Target="/ppt/presentation.xml" Id="R01d1af9171734169" /></Relationships>
</file>

<file path=ppt/presentation.xml><?xml version="1.0" encoding="utf-8"?>
<p:presentation xmlns:p="http://schemas.openxmlformats.org/presentationml/2006/main">
  <p:sldMasterIdLst>
    <p:sldMasterId xmlns:r="http://schemas.openxmlformats.org/officeDocument/2006/relationships" id="2147483648" r:id="R2d4ae16e49c94c29"/>
  </p:sldMasterIdLst>
  <p:notesMasterIdLst>
    <p:notesMasterId xmlns:r="http://schemas.openxmlformats.org/officeDocument/2006/relationships" r:id="Rd320f75f01394a50"/>
  </p:notesMasterIdLst>
  <p:sldIdLst>
    <p:sldId xmlns:r="http://schemas.openxmlformats.org/officeDocument/2006/relationships" id="256" r:id="R17dfc7eb6fad403a"/>
    <p:sldId xmlns:r="http://schemas.openxmlformats.org/officeDocument/2006/relationships" id="257" r:id="R1196ccf60ad644ab"/>
    <p:sldId xmlns:r="http://schemas.openxmlformats.org/officeDocument/2006/relationships" id="258" r:id="Rb8d8d93ba0934c0d"/>
    <p:sldId xmlns:r="http://schemas.openxmlformats.org/officeDocument/2006/relationships" id="259" r:id="Rf7d17ef00036449d"/>
    <p:sldId xmlns:r="http://schemas.openxmlformats.org/officeDocument/2006/relationships" id="260" r:id="Rab3bd3c325594866"/>
    <p:sldId xmlns:r="http://schemas.openxmlformats.org/officeDocument/2006/relationships" id="261" r:id="R7555ce67a63b4763"/>
    <p:sldId xmlns:r="http://schemas.openxmlformats.org/officeDocument/2006/relationships" id="262" r:id="R2405d44a256c4c7c"/>
    <p:sldId xmlns:r="http://schemas.openxmlformats.org/officeDocument/2006/relationships" id="263" r:id="R1ef52649a90a43fd"/>
    <p:sldId xmlns:r="http://schemas.openxmlformats.org/officeDocument/2006/relationships" id="264" r:id="Rc09962e93f05408c"/>
    <p:sldId xmlns:r="http://schemas.openxmlformats.org/officeDocument/2006/relationships" id="265" r:id="Rcbe5581e0a164b41"/>
    <p:sldId xmlns:r="http://schemas.openxmlformats.org/officeDocument/2006/relationships" id="266" r:id="Re25806e719e146a5"/>
    <p:sldId xmlns:r="http://schemas.openxmlformats.org/officeDocument/2006/relationships" id="267" r:id="Rba05637d879942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372b14b850427f" /><Relationship Type="http://schemas.openxmlformats.org/officeDocument/2006/relationships/slideMaster" Target="/ppt/slideMasters/slideMaster1.xml" Id="R2d4ae16e49c94c29" /><Relationship Type="http://schemas.openxmlformats.org/officeDocument/2006/relationships/notesMaster" Target="/ppt/notesMasters/notesMaster1.xml" Id="Rd320f75f01394a50" /><Relationship Type="http://schemas.openxmlformats.org/officeDocument/2006/relationships/presProps" Target="/ppt/presProps.xml" Id="Ra7b66b7690704ab0" /><Relationship Type="http://schemas.openxmlformats.org/officeDocument/2006/relationships/tableStyles" Target="/ppt/tableStyles.xml" Id="Rb3975e14b0f646d6" /><Relationship Type="http://schemas.openxmlformats.org/officeDocument/2006/relationships/slide" Target="/ppt/slides/slide1.xml" Id="R17dfc7eb6fad403a" /><Relationship Type="http://schemas.openxmlformats.org/officeDocument/2006/relationships/slide" Target="/ppt/slides/slide2.xml" Id="R1196ccf60ad644ab" /><Relationship Type="http://schemas.openxmlformats.org/officeDocument/2006/relationships/slide" Target="/ppt/slides/slide3.xml" Id="Rb8d8d93ba0934c0d" /><Relationship Type="http://schemas.openxmlformats.org/officeDocument/2006/relationships/slide" Target="/ppt/slides/slide4.xml" Id="Rf7d17ef00036449d" /><Relationship Type="http://schemas.openxmlformats.org/officeDocument/2006/relationships/slide" Target="/ppt/slides/slide5.xml" Id="Rab3bd3c325594866" /><Relationship Type="http://schemas.openxmlformats.org/officeDocument/2006/relationships/slide" Target="/ppt/slides/slide6.xml" Id="R7555ce67a63b4763" /><Relationship Type="http://schemas.openxmlformats.org/officeDocument/2006/relationships/slide" Target="/ppt/slides/slide7.xml" Id="R2405d44a256c4c7c" /><Relationship Type="http://schemas.openxmlformats.org/officeDocument/2006/relationships/slide" Target="/ppt/slides/slide8.xml" Id="R1ef52649a90a43fd" /><Relationship Type="http://schemas.openxmlformats.org/officeDocument/2006/relationships/slide" Target="/ppt/slides/slide9.xml" Id="Rc09962e93f05408c" /><Relationship Type="http://schemas.openxmlformats.org/officeDocument/2006/relationships/slide" Target="/ppt/slides/slide10.xml" Id="Rcbe5581e0a164b41" /><Relationship Type="http://schemas.openxmlformats.org/officeDocument/2006/relationships/slide" Target="/ppt/slides/slide11.xml" Id="Re25806e719e146a5" /><Relationship Type="http://schemas.openxmlformats.org/officeDocument/2006/relationships/slide" Target="/ppt/slides/slide12.xml" Id="Rba05637d879942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56d49fc1f41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33f53799c64e65" /><Relationship Type="http://schemas.openxmlformats.org/officeDocument/2006/relationships/notesMaster" Target="/ppt/notesMasters/notesMaster1.xml" Id="Rba650ae8bc6848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62db77d2b047c9" /><Relationship Type="http://schemas.openxmlformats.org/officeDocument/2006/relationships/notesMaster" Target="/ppt/notesMasters/notesMaster1.xml" Id="Re23cc5f352b947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c034f5cbf24875" /><Relationship Type="http://schemas.openxmlformats.org/officeDocument/2006/relationships/notesMaster" Target="/ppt/notesMasters/notesMaster1.xml" Id="Ra597ec6f66a742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ec8bcb03194f3c" /><Relationship Type="http://schemas.openxmlformats.org/officeDocument/2006/relationships/notesMaster" Target="/ppt/notesMasters/notesMaster1.xml" Id="R6cb167bc1f0445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377d2b542c4903" /><Relationship Type="http://schemas.openxmlformats.org/officeDocument/2006/relationships/notesMaster" Target="/ppt/notesMasters/notesMaster1.xml" Id="Rcb051ea4ce4b4f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8461afdebf4b47" /><Relationship Type="http://schemas.openxmlformats.org/officeDocument/2006/relationships/notesMaster" Target="/ppt/notesMasters/notesMaster1.xml" Id="Ra7e3c684d1ad41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3dfad143564a72" /><Relationship Type="http://schemas.openxmlformats.org/officeDocument/2006/relationships/notesMaster" Target="/ppt/notesMasters/notesMaster1.xml" Id="R4f68612ea61642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8572b822b14c37" /><Relationship Type="http://schemas.openxmlformats.org/officeDocument/2006/relationships/notesMaster" Target="/ppt/notesMasters/notesMaster1.xml" Id="R27705aae3edf43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fa6cf6d1304dc7" /><Relationship Type="http://schemas.openxmlformats.org/officeDocument/2006/relationships/notesMaster" Target="/ppt/notesMasters/notesMaster1.xml" Id="R7a1e06c64b4647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2530668c9b41bc" /><Relationship Type="http://schemas.openxmlformats.org/officeDocument/2006/relationships/notesMaster" Target="/ppt/notesMasters/notesMaster1.xml" Id="Raf0721860f5f45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bc4ebcdd0b4d86" /><Relationship Type="http://schemas.openxmlformats.org/officeDocument/2006/relationships/notesMaster" Target="/ppt/notesMasters/notesMaster1.xml" Id="R51e9724df43247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4ee46104744efa" /><Relationship Type="http://schemas.openxmlformats.org/officeDocument/2006/relationships/notesMaster" Target="/ppt/notesMasters/notesMaster1.xml" Id="R0d0e0e9f735041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Both introduce themselves. Explain the app purpose: one exercise per plan, recording actual sets, no medical or competitive claims. Proposal approval must be verified before describing it as approved.</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1:00–2:00. State original proposal responsibilities, not invented completed contributions. Afeef reviews accessibility/integration and helper reasoning. Samad coordinates quality. Explain that individual evidence appears later.</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2:00–4:30. Afeef demonstrates catalog then create/edit form. I1: compare StatelessWidget PlanCard in widgets/common.dart with StatefulWidget PlanEditor. build renders current state; expansion state belongs to CatalogScreen. I2: trace the intensity Slider callback to setState, then Save to WorkoutPlan and repository. Explain target versus actual reps. Show invalid name and numeric bounds.</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4:30–7:00. Samad demonstrates Start, repeated tap guard, logging, correction, Undo, Finish and Reset. Show start/saveSet/finish/reset in quest_repository.dart. Explain transaction, expected list length, unique draft index and stable token. Demonstrate both confirmed and cancelled reset or delete. Finish twice must leave one completed session.</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7:00–9:00. Samad demonstrates child CRUD and cascade policy for D1. Afeef changes theme/equipment/motion and performs the actual offline restart for D2. Explain SQLite relationship data versus the small SharedPreferences object. GitHub/ClickUp/YouTube are coordination/submission tools, not runtime app backends. Do not claim restart success before demonstrating it.</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9:00–11:00. Afeef answers A1 by tracing editor Save through controller.write to repository.savePlan and refresh. A2: show controller disposal in editor/detail, mounted checks after awaits, no timer dependency and root repository ownership. Samad explains close/reopen semantics. Demonstrate leaving a screen before a read finishes where feasible.</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11:00–13:00. Samad shows services/plan_helper.dart and input categories/count timestamps. Counts cover the preceding seven days inclusively and cap at two. Ties use lowest ID. Demonstrate reason text, Not now and manual override. Afeef explains how equipment preference changes the next ranking. Label the method rule-based, not trained ML.</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13:00–14:30. Samad opens evidence/helper_results.json and tool/helper_fixtures.dart. The evaluator ran in Dart 3.13.5. The 7 valid labels exclude 3 empty/invalid cases. A user may prefer a recent plan, so the convenience ranking mismatches that label. Explain nearest-neighbor alternative and retained limitation. This is not held-out testing, population accuracy or health evidence.</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14:30–17:00. Samad answers T1 using manual acceptance matrix and actual run outputs when available. Host SQL checks do not run Dart repository or native plugins. Show two actual device configurations after testing. T2: run --dart-define=ENABLE_FAILURE_DEMO=true, arm bug icon, save a plan, observe retained input and retry. Describe this as deliberately tested failure, not an invented historical bug. Update this slide with real Flutter/device results before final recording.</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17:00–19:00. Afeef shows enlarged text, landscape, keyboard access and reduced motion on the actual app. Compare a genuine before/after design revision after a peer review. Use docs/PEER_REVIEW.md. No fabricated observation is allowed; update this slide when the review has actually happened.</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19:00–21:30. Each member answers R1 with their real feature branch/PR/commit and review. Show task owner, acceptance criteria, exact code and test outcome. Include the four dated snapshots and one measured flow improvement. Do not claim generated files prove independent authorship. Refer to AI_Usage_Log.md for assistance.</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21:30–23:00. Each member summarizes one real learning experience and a next improvement. Check all selected IDs I1/I2/A1/A2/D1/D2/T1/T2/R1/R4 have been answered in the recording. The final package needs approved proposal, signed acknowledgment, final report, evidence, tested APK and accessible video. Keep total recording 20–25 minutes.</a:t>
            </a:r>
          </a:p>
          <a:p xmlns:a="http://schemas.openxmlformats.org/drawingml/2006/main">
            <a:r>
              <a:t>Source: supplied PROJECT DETAILS.docx and submitted Movement Quest proposal. Code paths refer to this source handoff. Verification limitations must be resolved or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cb88b69b7241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a1947ac75b47d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192332828545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58a5d8bfad46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6aff2b60854e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16d5f2874c42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A9C7CD-8BC4-4D84-A565-90573BC7AB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EABEF6-C288-4A5D-9FEB-96AE9624C9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D66F5E-8B51-4CFE-A58C-C5210A113F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A1B346-4BF3-4B6A-B118-72DDC4ACAC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3B6576C-8C0F-41FB-934A-E43A36C4F7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965A61-0A00-4F58-8DA1-B90E2BCED5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BED485-395A-498B-9DD9-7990FA6554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202380-810E-44D2-932F-A48E478DC4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B00DDF-3A0C-473A-9A02-0B56676F3F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5280BB-778B-4EE6-BFF1-8AFA095676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054444bd94746" /><Relationship Type="http://schemas.openxmlformats.org/officeDocument/2006/relationships/slideLayout" Target="/ppt/slideLayouts/slideLayout1.xml" Id="R0a4ef9c8a2cd42e3" /><Relationship Type="http://schemas.openxmlformats.org/officeDocument/2006/relationships/slideLayout" Target="/ppt/slideLayouts/slideLayout2.xml" Id="Rd467fea341b541d2" /><Relationship Type="http://schemas.openxmlformats.org/officeDocument/2006/relationships/slideLayout" Target="/ppt/slideLayouts/slideLayout3.xml" Id="R8d6f2a98432242a6" /><Relationship Type="http://schemas.openxmlformats.org/officeDocument/2006/relationships/slideLayout" Target="/ppt/slideLayouts/slideLayout4.xml" Id="Re7e0fe12fe724af2" /><Relationship Type="http://schemas.openxmlformats.org/officeDocument/2006/relationships/slideLayout" Target="/ppt/slideLayouts/slideLayout5.xml" Id="Re87e13644fe5475a" /><Relationship Type="http://schemas.openxmlformats.org/officeDocument/2006/relationships/slideLayout" Target="/ppt/slideLayouts/slideLayout6.xml" Id="R5b31749cf8164e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4ef9c8a2cd42e3"/>
    <p:sldLayoutId xmlns:r="http://schemas.openxmlformats.org/officeDocument/2006/relationships" id="2147483650" r:id="Rd467fea341b541d2"/>
    <p:sldLayoutId xmlns:r="http://schemas.openxmlformats.org/officeDocument/2006/relationships" id="2147483651" r:id="R8d6f2a98432242a6"/>
    <p:sldLayoutId xmlns:r="http://schemas.openxmlformats.org/officeDocument/2006/relationships" id="2147483652" r:id="Re7e0fe12fe724af2"/>
    <p:sldLayoutId xmlns:r="http://schemas.openxmlformats.org/officeDocument/2006/relationships" id="2147483653" r:id="Re87e13644fe5475a"/>
    <p:sldLayoutId xmlns:r="http://schemas.openxmlformats.org/officeDocument/2006/relationships" id="2147483654" r:id="R5b31749cf8164e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9fe5e07cb1495a" /><Relationship Type="http://schemas.openxmlformats.org/officeDocument/2006/relationships/notesSlide" Target="/ppt/notesSlides/notesSlide1.xml" Id="R698dab7f689b4b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769f62cd9c4b56" /><Relationship Type="http://schemas.openxmlformats.org/officeDocument/2006/relationships/notesSlide" Target="/ppt/notesSlides/notesSlide2.xml" Id="R3555b825b03f43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786d5fd57634e65" /><Relationship Type="http://schemas.openxmlformats.org/officeDocument/2006/relationships/notesSlide" Target="/ppt/notesSlides/notesSlide3.xml" Id="Rc62029bd1adb43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c61ac060814264" /><Relationship Type="http://schemas.openxmlformats.org/officeDocument/2006/relationships/notesSlide" Target="/ppt/notesSlides/notesSlide4.xml" Id="R7d79c2d1e1194f2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41d58e60174682" /><Relationship Type="http://schemas.openxmlformats.org/officeDocument/2006/relationships/notesSlide" Target="/ppt/notesSlides/notesSlide5.xml" Id="Rd02109961f2e4d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af9f752c134bec" /><Relationship Type="http://schemas.openxmlformats.org/officeDocument/2006/relationships/notesSlide" Target="/ppt/notesSlides/notesSlide6.xml" Id="R5e95d088ae0648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127f647a44b4a3c" /><Relationship Type="http://schemas.openxmlformats.org/officeDocument/2006/relationships/notesSlide" Target="/ppt/notesSlides/notesSlide7.xml" Id="Rd77deac82ed548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d0a38fabb9e4315" /><Relationship Type="http://schemas.openxmlformats.org/officeDocument/2006/relationships/notesSlide" Target="/ppt/notesSlides/notesSlide8.xml" Id="Rf1adebcafda64e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6083d07c0b4217" /><Relationship Type="http://schemas.openxmlformats.org/officeDocument/2006/relationships/notesSlide" Target="/ppt/notesSlides/notesSlide9.xml" Id="Rd51243c87fec4c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08157ec20e44d8" /><Relationship Type="http://schemas.openxmlformats.org/officeDocument/2006/relationships/notesSlide" Target="/ppt/notesSlides/notesSlide10.xml" Id="R795b314d70024f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54e71dd6d6483a" /><Relationship Type="http://schemas.openxmlformats.org/officeDocument/2006/relationships/notesSlide" Target="/ppt/notesSlides/notesSlide11.xml" Id="R2021b9446bd041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071a645f0954994" /><Relationship Type="http://schemas.openxmlformats.org/officeDocument/2006/relationships/notesSlide" Target="/ppt/notesSlides/notesSlide12.xml" Id="R3f2dae32f534489a"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3BDF52-7363-4CFF-A6F6-E7718B130372}"/>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0DAB273D-E17F-47A7-8408-864DC841AE6A}"/>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100" b="1">
                <a:solidFill>
                  <a:srgbClr val="163B32"/>
                </a:solidFill>
              </a:defRPr>
            </a:defPPr>
            <a:lvl1pPr>
              <a:defRPr sz="5100" b="1">
                <a:solidFill>
                  <a:srgbClr val="163B32"/>
                </a:solidFill>
              </a:defRPr>
            </a:lvl1pPr>
            <a:lvl2pPr>
              <a:defRPr sz="5100" b="1">
                <a:solidFill>
                  <a:srgbClr val="163B32"/>
                </a:solidFill>
              </a:defRPr>
            </a:lvl2pPr>
            <a:lvl3pPr>
              <a:defRPr sz="5100" b="1">
                <a:solidFill>
                  <a:srgbClr val="163B32"/>
                </a:solidFill>
              </a:defRPr>
            </a:lvl3pPr>
            <a:lvl4pPr>
              <a:defRPr sz="5100" b="1">
                <a:solidFill>
                  <a:srgbClr val="163B32"/>
                </a:solidFill>
              </a:defRPr>
            </a:lvl4pPr>
            <a:lvl5pPr>
              <a:defRPr sz="5100" b="1">
                <a:solidFill>
                  <a:srgbClr val="163B32"/>
                </a:solidFill>
              </a:defRPr>
            </a:lvl5pPr>
            <a:lvl6pPr>
              <a:defRPr sz="5100" b="1">
                <a:solidFill>
                  <a:srgbClr val="163B32"/>
                </a:solidFill>
              </a:defRPr>
            </a:lvl6pPr>
            <a:lvl7pPr>
              <a:defRPr sz="5100" b="1">
                <a:solidFill>
                  <a:srgbClr val="163B32"/>
                </a:solidFill>
              </a:defRPr>
            </a:lvl7pPr>
            <a:lvl8pPr>
              <a:defRPr sz="5100" b="1">
                <a:solidFill>
                  <a:srgbClr val="163B32"/>
                </a:solidFill>
              </a:defRPr>
            </a:lvl8pPr>
            <a:lvl9pPr>
              <a:defRPr sz="5100" b="1">
                <a:solidFill>
                  <a:srgbClr val="163B32"/>
                </a:solidFill>
              </a:defRPr>
            </a:lvl9pPr>
          </a:lstStyle>
          <a:p xmlns:a="http://schemas.openxmlformats.org/drawingml/2006/main">
            <a:pPr>
              <a:defRPr sz="5100" b="1">
                <a:solidFill>
                  <a:srgbClr val="163B32"/>
                </a:solidFill>
              </a:defRPr>
            </a:pPr>
            <a:r>
              <a:rPr sz="5100" b="1">
                <a:solidFill>
                  <a:srgbClr val="163B32"/>
                </a:solidFill>
              </a:rPr>
              <a:t>Movement Quest</a:t>
            </a:r>
          </a:p>
        </p:txBody>
      </p:sp>
      <p:sp>
        <p:nvSpPr>
          <p:cNvPr id="3" name="">
            <a:extLst xmlns:a="http://schemas.openxmlformats.org/drawingml/2006/main">
              <a:ext uri="{FF2B5EF4-FFF2-40B4-BE49-F238E27FC236}">
                <a16:creationId xmlns:a16="http://schemas.microsoft.com/office/drawing/2014/main" id="{B5DE1D91-FB61-4905-A01C-704CEF008FCE}"/>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Short routines. Honest records.</a:t>
            </a:r>
          </a:p>
        </p:txBody>
      </p:sp>
      <p:sp>
        <p:nvSpPr>
          <p:cNvPr id="4" name="">
            <a:extLst xmlns:a="http://schemas.openxmlformats.org/drawingml/2006/main">
              <a:ext uri="{FF2B5EF4-FFF2-40B4-BE49-F238E27FC236}">
                <a16:creationId xmlns:a16="http://schemas.microsoft.com/office/drawing/2014/main" id="{F39D3CB6-3892-4981-8B77-19FA75273F90}"/>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CODING MASTER</a:t>
            </a:r>
          </a:p>
        </p:txBody>
      </p:sp>
      <p:sp>
        <p:nvSpPr>
          <p:cNvPr id="5" name="">
            <a:extLst xmlns:a="http://schemas.openxmlformats.org/drawingml/2006/main">
              <a:ext uri="{FF2B5EF4-FFF2-40B4-BE49-F238E27FC236}">
                <a16:creationId xmlns:a16="http://schemas.microsoft.com/office/drawing/2014/main" id="{99EAECDA-CB6E-4AD2-944E-E1CB1DF8608B}"/>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Mohammed Afeefuddin  /  Muhammad Samad Khan</a:t>
            </a:r>
          </a:p>
        </p:txBody>
      </p:sp>
      <p:sp>
        <p:nvSpPr>
          <p:cNvPr id="6" name="">
            <a:extLst xmlns:a="http://schemas.openxmlformats.org/drawingml/2006/main">
              <a:ext uri="{FF2B5EF4-FFF2-40B4-BE49-F238E27FC236}">
                <a16:creationId xmlns:a16="http://schemas.microsoft.com/office/drawing/2014/main" id="{EACCA871-2CFB-4D47-8FC1-37DDBC1C034B}"/>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CSC4360 MAD  /  Undergraduate</a:t>
            </a:r>
          </a:p>
        </p:txBody>
      </p:sp>
      <p:sp>
        <p:nvSpPr>
          <p:cNvPr id="7" name="">
            <a:extLst xmlns:a="http://schemas.openxmlformats.org/drawingml/2006/main">
              <a:ext uri="{FF2B5EF4-FFF2-40B4-BE49-F238E27FC236}">
                <a16:creationId xmlns:a16="http://schemas.microsoft.com/office/drawing/2014/main" id="{8A653BE4-91FA-4EB8-A346-C1650A1B5D44}"/>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01 / 12</a:t>
            </a:r>
          </a:p>
        </p:txBody>
      </p:sp>
    </p:spTree>
    <p:extLst>
      <p:ext uri="{BB962C8B-B14F-4D97-AF65-F5344CB8AC3E}">
        <p14:creationId xmlns:p14="http://schemas.microsoft.com/office/powerpoint/2010/main" val="1047663688"/>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926B93-4097-4CC2-9119-7EDAE696BB5F}"/>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03C913E4-42BB-447A-B50E-EE8E2FC892E5}"/>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Scope and original roles</a:t>
            </a:r>
          </a:p>
        </p:txBody>
      </p:sp>
      <p:sp>
        <p:nvSpPr>
          <p:cNvPr id="3" name="">
            <a:extLst xmlns:a="http://schemas.openxmlformats.org/drawingml/2006/main">
              <a:ext uri="{FF2B5EF4-FFF2-40B4-BE49-F238E27FC236}">
                <a16:creationId xmlns:a16="http://schemas.microsoft.com/office/drawing/2014/main" id="{FAB16E29-FE3F-4D1D-A4FE-5DEB7731623D}"/>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Five screen roles. Two local entities.</a:t>
            </a:r>
          </a:p>
        </p:txBody>
      </p:sp>
      <p:sp>
        <p:nvSpPr>
          <p:cNvPr id="4" name="">
            <a:extLst xmlns:a="http://schemas.openxmlformats.org/drawingml/2006/main">
              <a:ext uri="{FF2B5EF4-FFF2-40B4-BE49-F238E27FC236}">
                <a16:creationId xmlns:a16="http://schemas.microsoft.com/office/drawing/2014/main" id="{D6BBFA90-6EB0-4AAC-8521-806367ADE48E}"/>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Afeef: UI, forms, navigation, settings and demo</a:t>
            </a:r>
          </a:p>
        </p:txBody>
      </p:sp>
      <p:sp>
        <p:nvSpPr>
          <p:cNvPr id="5" name="">
            <a:extLst xmlns:a="http://schemas.openxmlformats.org/drawingml/2006/main">
              <a:ext uri="{FF2B5EF4-FFF2-40B4-BE49-F238E27FC236}">
                <a16:creationId xmlns:a16="http://schemas.microsoft.com/office/drawing/2014/main" id="{A3D1BDFB-4E81-4CA2-A288-2316862F9763}"/>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Samad: SQLite, activity integrity, helper, tests and release</a:t>
            </a:r>
          </a:p>
        </p:txBody>
      </p:sp>
      <p:sp>
        <p:nvSpPr>
          <p:cNvPr id="6" name="">
            <a:extLst xmlns:a="http://schemas.openxmlformats.org/drawingml/2006/main">
              <a:ext uri="{FF2B5EF4-FFF2-40B4-BE49-F238E27FC236}">
                <a16:creationId xmlns:a16="http://schemas.microsoft.com/office/drawing/2014/main" id="{8546074C-FD73-4175-884C-ED01646758EF}"/>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Shared review keeps the app and evidence consistent</a:t>
            </a:r>
          </a:p>
        </p:txBody>
      </p:sp>
      <p:sp>
        <p:nvSpPr>
          <p:cNvPr id="7" name="">
            <a:extLst xmlns:a="http://schemas.openxmlformats.org/drawingml/2006/main">
              <a:ext uri="{FF2B5EF4-FFF2-40B4-BE49-F238E27FC236}">
                <a16:creationId xmlns:a16="http://schemas.microsoft.com/office/drawing/2014/main" id="{A37B055F-6E89-4FF0-973B-360E7CED177B}"/>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02 / 12</a:t>
            </a:r>
          </a:p>
        </p:txBody>
      </p:sp>
    </p:spTree>
    <p:extLst>
      <p:ext uri="{BB962C8B-B14F-4D97-AF65-F5344CB8AC3E}">
        <p14:creationId xmlns:p14="http://schemas.microsoft.com/office/powerpoint/2010/main" val="1549418657"/>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49C66D-ABDF-4089-B11F-7A05738F767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99A2C85F-C1C5-408A-A2B2-782056499952}"/>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Catalog and plan editor</a:t>
            </a:r>
          </a:p>
        </p:txBody>
      </p:sp>
      <p:sp>
        <p:nvSpPr>
          <p:cNvPr id="3" name="">
            <a:extLst xmlns:a="http://schemas.openxmlformats.org/drawingml/2006/main">
              <a:ext uri="{FF2B5EF4-FFF2-40B4-BE49-F238E27FC236}">
                <a16:creationId xmlns:a16="http://schemas.microsoft.com/office/drawing/2014/main" id="{28D5DD95-E5A4-4590-B7FC-B919BA4B53AF}"/>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I1 · I2</a:t>
            </a:r>
          </a:p>
        </p:txBody>
      </p:sp>
      <p:sp>
        <p:nvSpPr>
          <p:cNvPr id="4" name="">
            <a:extLst xmlns:a="http://schemas.openxmlformats.org/drawingml/2006/main">
              <a:ext uri="{FF2B5EF4-FFF2-40B4-BE49-F238E27FC236}">
                <a16:creationId xmlns:a16="http://schemas.microsoft.com/office/drawing/2014/main" id="{EE2774F3-3A44-4883-8E49-7D8B75B678DE}"/>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Reusable PlanCard displays supplied data</a:t>
            </a:r>
          </a:p>
        </p:txBody>
      </p:sp>
      <p:sp>
        <p:nvSpPr>
          <p:cNvPr id="5" name="">
            <a:extLst xmlns:a="http://schemas.openxmlformats.org/drawingml/2006/main">
              <a:ext uri="{FF2B5EF4-FFF2-40B4-BE49-F238E27FC236}">
                <a16:creationId xmlns:a16="http://schemas.microsoft.com/office/drawing/2014/main" id="{4E32A5B5-EE4B-4DE4-8C7B-95531D70EF24}"/>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PlanEditor owns form inputs and dirty state</a:t>
            </a:r>
          </a:p>
        </p:txBody>
      </p:sp>
      <p:sp>
        <p:nvSpPr>
          <p:cNvPr id="6" name="">
            <a:extLst xmlns:a="http://schemas.openxmlformats.org/drawingml/2006/main">
              <a:ext uri="{FF2B5EF4-FFF2-40B4-BE49-F238E27FC236}">
                <a16:creationId xmlns:a16="http://schemas.microsoft.com/office/drawing/2014/main" id="{28566B9C-94DE-4DA2-9124-EF237E4894AE}"/>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Save validates bounds before persistence</a:t>
            </a:r>
          </a:p>
        </p:txBody>
      </p:sp>
      <p:sp>
        <p:nvSpPr>
          <p:cNvPr id="7" name="">
            <a:extLst xmlns:a="http://schemas.openxmlformats.org/drawingml/2006/main">
              <a:ext uri="{FF2B5EF4-FFF2-40B4-BE49-F238E27FC236}">
                <a16:creationId xmlns:a16="http://schemas.microsoft.com/office/drawing/2014/main" id="{389FA26B-948F-4C45-9CBF-48C021C3F337}"/>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03 / 12</a:t>
            </a:r>
          </a:p>
        </p:txBody>
      </p:sp>
    </p:spTree>
    <p:extLst>
      <p:ext uri="{BB962C8B-B14F-4D97-AF65-F5344CB8AC3E}">
        <p14:creationId xmlns:p14="http://schemas.microsoft.com/office/powerpoint/2010/main" val="1868355354"/>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CB993F-49A9-46E6-8A64-DE43BBF3652B}"/>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7FE8B873-986D-48F9-898D-C724EAA813DE}"/>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Saved workout progress</a:t>
            </a:r>
          </a:p>
        </p:txBody>
      </p:sp>
      <p:sp>
        <p:nvSpPr>
          <p:cNvPr id="3" name="">
            <a:extLst xmlns:a="http://schemas.openxmlformats.org/drawingml/2006/main">
              <a:ext uri="{FF2B5EF4-FFF2-40B4-BE49-F238E27FC236}">
                <a16:creationId xmlns:a16="http://schemas.microsoft.com/office/drawing/2014/main" id="{76082615-7C22-4376-8C06-6E10C0274AB7}"/>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D1</a:t>
            </a:r>
          </a:p>
        </p:txBody>
      </p:sp>
      <p:sp>
        <p:nvSpPr>
          <p:cNvPr id="4" name="">
            <a:extLst xmlns:a="http://schemas.openxmlformats.org/drawingml/2006/main">
              <a:ext uri="{FF2B5EF4-FFF2-40B4-BE49-F238E27FC236}">
                <a16:creationId xmlns:a16="http://schemas.microsoft.com/office/drawing/2014/main" id="{32DDD57C-35CE-4677-8822-684146E13646}"/>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Start creates or resumes one persisted draft</a:t>
            </a:r>
          </a:p>
        </p:txBody>
      </p:sp>
      <p:sp>
        <p:nvSpPr>
          <p:cNvPr id="5" name="">
            <a:extLst xmlns:a="http://schemas.openxmlformats.org/drawingml/2006/main">
              <a:ext uri="{FF2B5EF4-FFF2-40B4-BE49-F238E27FC236}">
                <a16:creationId xmlns:a16="http://schemas.microsoft.com/office/drawing/2014/main" id="{879CBB6F-3F91-465C-90ED-5822F4F93C08}"/>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Correct or undo a set before finishing</a:t>
            </a:r>
          </a:p>
        </p:txBody>
      </p:sp>
      <p:sp>
        <p:nvSpPr>
          <p:cNvPr id="6" name="">
            <a:extLst xmlns:a="http://schemas.openxmlformats.org/drawingml/2006/main">
              <a:ext uri="{FF2B5EF4-FFF2-40B4-BE49-F238E27FC236}">
                <a16:creationId xmlns:a16="http://schemas.microsoft.com/office/drawing/2014/main" id="{EECCEB36-AFDF-4912-B7E9-3A989B7F9DF4}"/>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Finish updates the same row once</a:t>
            </a:r>
          </a:p>
        </p:txBody>
      </p:sp>
      <p:sp>
        <p:nvSpPr>
          <p:cNvPr id="7" name="">
            <a:extLst xmlns:a="http://schemas.openxmlformats.org/drawingml/2006/main">
              <a:ext uri="{FF2B5EF4-FFF2-40B4-BE49-F238E27FC236}">
                <a16:creationId xmlns:a16="http://schemas.microsoft.com/office/drawing/2014/main" id="{1A23BC3C-CE83-4D2A-975A-87F592B115A2}"/>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04 / 12</a:t>
            </a:r>
          </a:p>
        </p:txBody>
      </p:sp>
    </p:spTree>
    <p:extLst>
      <p:ext uri="{BB962C8B-B14F-4D97-AF65-F5344CB8AC3E}">
        <p14:creationId xmlns:p14="http://schemas.microsoft.com/office/powerpoint/2010/main" val="125455720"/>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FD7804-CC73-4D04-A289-36B3F7F790BC}"/>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F5D750AA-378D-4AEC-B87D-D9D7EF77880B}"/>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History and offline settings</a:t>
            </a:r>
          </a:p>
        </p:txBody>
      </p:sp>
      <p:sp>
        <p:nvSpPr>
          <p:cNvPr id="3" name="">
            <a:extLst xmlns:a="http://schemas.openxmlformats.org/drawingml/2006/main">
              <a:ext uri="{FF2B5EF4-FFF2-40B4-BE49-F238E27FC236}">
                <a16:creationId xmlns:a16="http://schemas.microsoft.com/office/drawing/2014/main" id="{96CD62AD-AA9B-4BDF-B157-BFF3892460A6}"/>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D1 · D2</a:t>
            </a:r>
          </a:p>
        </p:txBody>
      </p:sp>
      <p:sp>
        <p:nvSpPr>
          <p:cNvPr id="4" name="">
            <a:extLst xmlns:a="http://schemas.openxmlformats.org/drawingml/2006/main">
              <a:ext uri="{FF2B5EF4-FFF2-40B4-BE49-F238E27FC236}">
                <a16:creationId xmlns:a16="http://schemas.microsoft.com/office/drawing/2014/main" id="{34A8C412-7E2D-433F-B062-3F5380F1F9D6}"/>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History supports add, read, edit and delete</a:t>
            </a:r>
          </a:p>
        </p:txBody>
      </p:sp>
      <p:sp>
        <p:nvSpPr>
          <p:cNvPr id="5" name="">
            <a:extLst xmlns:a="http://schemas.openxmlformats.org/drawingml/2006/main">
              <a:ext uri="{FF2B5EF4-FFF2-40B4-BE49-F238E27FC236}">
                <a16:creationId xmlns:a16="http://schemas.microsoft.com/office/drawing/2014/main" id="{47B4D858-1963-471A-8EAD-720849541E54}"/>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Completed counts refresh after writes</a:t>
            </a:r>
          </a:p>
        </p:txBody>
      </p:sp>
      <p:sp>
        <p:nvSpPr>
          <p:cNvPr id="6" name="">
            <a:extLst xmlns:a="http://schemas.openxmlformats.org/drawingml/2006/main">
              <a:ext uri="{FF2B5EF4-FFF2-40B4-BE49-F238E27FC236}">
                <a16:creationId xmlns:a16="http://schemas.microsoft.com/office/drawing/2014/main" id="{7FAA7C8F-9E05-4C94-ADA6-EEC62C93329E}"/>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Offline relaunch is a required device check</a:t>
            </a:r>
          </a:p>
        </p:txBody>
      </p:sp>
      <p:sp>
        <p:nvSpPr>
          <p:cNvPr id="7" name="">
            <a:extLst xmlns:a="http://schemas.openxmlformats.org/drawingml/2006/main">
              <a:ext uri="{FF2B5EF4-FFF2-40B4-BE49-F238E27FC236}">
                <a16:creationId xmlns:a16="http://schemas.microsoft.com/office/drawing/2014/main" id="{9BB31EB3-56F3-420C-8C12-50874B614310}"/>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05 / 12</a:t>
            </a:r>
          </a:p>
        </p:txBody>
      </p:sp>
    </p:spTree>
    <p:extLst>
      <p:ext uri="{BB962C8B-B14F-4D97-AF65-F5344CB8AC3E}">
        <p14:creationId xmlns:p14="http://schemas.microsoft.com/office/powerpoint/2010/main" val="1076244047"/>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B38B14-2352-4367-AF90-3CB4BF86529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B7726920-4B05-4BE5-AFFD-3D22F6D6E30D}"/>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State and lifecycle</a:t>
            </a:r>
          </a:p>
        </p:txBody>
      </p:sp>
      <p:sp>
        <p:nvSpPr>
          <p:cNvPr id="3" name="">
            <a:extLst xmlns:a="http://schemas.openxmlformats.org/drawingml/2006/main">
              <a:ext uri="{FF2B5EF4-FFF2-40B4-BE49-F238E27FC236}">
                <a16:creationId xmlns:a16="http://schemas.microsoft.com/office/drawing/2014/main" id="{4D55FBF7-43F6-467F-AFB4-EB9DFD0A9BD0}"/>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A1 · A2</a:t>
            </a:r>
          </a:p>
        </p:txBody>
      </p:sp>
      <p:sp>
        <p:nvSpPr>
          <p:cNvPr id="4" name="">
            <a:extLst xmlns:a="http://schemas.openxmlformats.org/drawingml/2006/main">
              <a:ext uri="{FF2B5EF4-FFF2-40B4-BE49-F238E27FC236}">
                <a16:creationId xmlns:a16="http://schemas.microsoft.com/office/drawing/2014/main" id="{8BB79EBF-0DE6-4484-8F0D-7C764341BE1F}"/>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Screens own local input and navigation</a:t>
            </a:r>
          </a:p>
        </p:txBody>
      </p:sp>
      <p:sp>
        <p:nvSpPr>
          <p:cNvPr id="5" name="">
            <a:extLst xmlns:a="http://schemas.openxmlformats.org/drawingml/2006/main">
              <a:ext uri="{FF2B5EF4-FFF2-40B4-BE49-F238E27FC236}">
                <a16:creationId xmlns:a16="http://schemas.microsoft.com/office/drawing/2014/main" id="{E724402E-259E-4539-A042-79D873837656}"/>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QuestController refreshes shared saved records</a:t>
            </a:r>
          </a:p>
        </p:txBody>
      </p:sp>
      <p:sp>
        <p:nvSpPr>
          <p:cNvPr id="6" name="">
            <a:extLst xmlns:a="http://schemas.openxmlformats.org/drawingml/2006/main">
              <a:ext uri="{FF2B5EF4-FFF2-40B4-BE49-F238E27FC236}">
                <a16:creationId xmlns:a16="http://schemas.microsoft.com/office/drawing/2014/main" id="{AEEB2B0E-A390-401A-9992-230FF505F1CC}"/>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Repository owns SQL and transactions</a:t>
            </a:r>
          </a:p>
        </p:txBody>
      </p:sp>
      <p:sp>
        <p:nvSpPr>
          <p:cNvPr id="7" name="">
            <a:extLst xmlns:a="http://schemas.openxmlformats.org/drawingml/2006/main">
              <a:ext uri="{FF2B5EF4-FFF2-40B4-BE49-F238E27FC236}">
                <a16:creationId xmlns:a16="http://schemas.microsoft.com/office/drawing/2014/main" id="{D042ECC4-0CBB-4069-BCAD-0F8B0D218A54}"/>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06 / 12</a:t>
            </a:r>
          </a:p>
        </p:txBody>
      </p:sp>
    </p:spTree>
    <p:extLst>
      <p:ext uri="{BB962C8B-B14F-4D97-AF65-F5344CB8AC3E}">
        <p14:creationId xmlns:p14="http://schemas.microsoft.com/office/powerpoint/2010/main" val="11775372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DA90A4-79F0-4E31-A785-C8166B73C73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42E1527B-925F-49D2-8F67-706F28F43E4E}"/>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Explainable local helper</a:t>
            </a:r>
          </a:p>
        </p:txBody>
      </p:sp>
      <p:sp>
        <p:nvSpPr>
          <p:cNvPr id="3" name="">
            <a:extLst xmlns:a="http://schemas.openxmlformats.org/drawingml/2006/main">
              <a:ext uri="{FF2B5EF4-FFF2-40B4-BE49-F238E27FC236}">
                <a16:creationId xmlns:a16="http://schemas.microsoft.com/office/drawing/2014/main" id="{CA97C653-4578-4B5F-ADB7-D3B745E6F984}"/>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R4</a:t>
            </a:r>
          </a:p>
        </p:txBody>
      </p:sp>
      <p:sp>
        <p:nvSpPr>
          <p:cNvPr id="4" name="">
            <a:extLst xmlns:a="http://schemas.openxmlformats.org/drawingml/2006/main">
              <a:ext uri="{FF2B5EF4-FFF2-40B4-BE49-F238E27FC236}">
                <a16:creationId xmlns:a16="http://schemas.microsoft.com/office/drawing/2014/main" id="{EAD07FC8-EF87-4F65-AF35-0EA98ECA9F20}"/>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Score = 3 × equipment match − capped recent count</a:t>
            </a:r>
          </a:p>
        </p:txBody>
      </p:sp>
      <p:sp>
        <p:nvSpPr>
          <p:cNvPr id="5" name="">
            <a:extLst xmlns:a="http://schemas.openxmlformats.org/drawingml/2006/main">
              <a:ext uri="{FF2B5EF4-FFF2-40B4-BE49-F238E27FC236}">
                <a16:creationId xmlns:a16="http://schemas.microsoft.com/office/drawing/2014/main" id="{92880133-A151-4B4D-B60E-A06AA4E0C97E}"/>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Baseline chooses the lowest plan ID</a:t>
            </a:r>
          </a:p>
        </p:txBody>
      </p:sp>
      <p:sp>
        <p:nvSpPr>
          <p:cNvPr id="6" name="">
            <a:extLst xmlns:a="http://schemas.openxmlformats.org/drawingml/2006/main">
              <a:ext uri="{FF2B5EF4-FFF2-40B4-BE49-F238E27FC236}">
                <a16:creationId xmlns:a16="http://schemas.microsoft.com/office/drawing/2014/main" id="{91781327-8896-4971-BE47-2F8354CCB2E3}"/>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Apply opens a plan; Start remains explicit</a:t>
            </a:r>
          </a:p>
        </p:txBody>
      </p:sp>
      <p:sp>
        <p:nvSpPr>
          <p:cNvPr id="7" name="">
            <a:extLst xmlns:a="http://schemas.openxmlformats.org/drawingml/2006/main">
              <a:ext uri="{FF2B5EF4-FFF2-40B4-BE49-F238E27FC236}">
                <a16:creationId xmlns:a16="http://schemas.microsoft.com/office/drawing/2014/main" id="{D057CB63-EC34-4E02-8E79-89C42A8831D2}"/>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07 / 12</a:t>
            </a:r>
          </a:p>
        </p:txBody>
      </p:sp>
    </p:spTree>
    <p:extLst>
      <p:ext uri="{BB962C8B-B14F-4D97-AF65-F5344CB8AC3E}">
        <p14:creationId xmlns:p14="http://schemas.microsoft.com/office/powerpoint/2010/main" val="115090819"/>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6423F9-6603-4065-A4C8-74B28273CB4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FF34597A-81BD-4E88-A107-1C9561D079BF}"/>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Helper evaluation</a:t>
            </a:r>
          </a:p>
        </p:txBody>
      </p:sp>
      <p:sp>
        <p:nvSpPr>
          <p:cNvPr id="3" name="">
            <a:extLst xmlns:a="http://schemas.openxmlformats.org/drawingml/2006/main">
              <a:ext uri="{FF2B5EF4-FFF2-40B4-BE49-F238E27FC236}">
                <a16:creationId xmlns:a16="http://schemas.microsoft.com/office/drawing/2014/main" id="{411555DE-78F0-4143-99A7-69FC96FB28DB}"/>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R4</a:t>
            </a:r>
          </a:p>
        </p:txBody>
      </p:sp>
      <p:sp>
        <p:nvSpPr>
          <p:cNvPr id="4" name="">
            <a:extLst xmlns:a="http://schemas.openxmlformats.org/drawingml/2006/main">
              <a:ext uri="{FF2B5EF4-FFF2-40B4-BE49-F238E27FC236}">
                <a16:creationId xmlns:a16="http://schemas.microsoft.com/office/drawing/2014/main" id="{EF750C98-3489-4214-A6E3-51F3A48B3E58}"/>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10 of 10 expected-output checks passed</a:t>
            </a:r>
          </a:p>
        </p:txBody>
      </p:sp>
      <p:sp>
        <p:nvSpPr>
          <p:cNvPr id="5" name="">
            <a:extLst xmlns:a="http://schemas.openxmlformats.org/drawingml/2006/main">
              <a:ext uri="{FF2B5EF4-FFF2-40B4-BE49-F238E27FC236}">
                <a16:creationId xmlns:a16="http://schemas.microsoft.com/office/drawing/2014/main" id="{5B6755E7-6A86-4258-AD9D-2606D16DE95C}"/>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Synthetic preference labels: helper 6/7, baseline 4/7</a:t>
            </a:r>
          </a:p>
        </p:txBody>
      </p:sp>
      <p:sp>
        <p:nvSpPr>
          <p:cNvPr id="6" name="">
            <a:extLst xmlns:a="http://schemas.openxmlformats.org/drawingml/2006/main">
              <a:ext uri="{FF2B5EF4-FFF2-40B4-BE49-F238E27FC236}">
                <a16:creationId xmlns:a16="http://schemas.microsoft.com/office/drawing/2014/main" id="{898BFC0A-A958-4CCC-9311-F23E0B2B6AC8}"/>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A counterexample exposes a missing preference</a:t>
            </a:r>
          </a:p>
        </p:txBody>
      </p:sp>
      <p:sp>
        <p:nvSpPr>
          <p:cNvPr id="7" name="">
            <a:extLst xmlns:a="http://schemas.openxmlformats.org/drawingml/2006/main">
              <a:ext uri="{FF2B5EF4-FFF2-40B4-BE49-F238E27FC236}">
                <a16:creationId xmlns:a16="http://schemas.microsoft.com/office/drawing/2014/main" id="{58DE97EC-C2EC-4AD7-992F-0DBE671BE8A7}"/>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08 / 12</a:t>
            </a:r>
          </a:p>
        </p:txBody>
      </p:sp>
    </p:spTree>
    <p:extLst>
      <p:ext uri="{BB962C8B-B14F-4D97-AF65-F5344CB8AC3E}">
        <p14:creationId xmlns:p14="http://schemas.microsoft.com/office/powerpoint/2010/main" val="489903417"/>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4F147AD-F6BF-4A7F-8DAD-BA5B7C18DF6D}"/>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FEB2A24E-7507-4F4F-A69B-F8F6FC575D34}"/>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Tests and failure recovery</a:t>
            </a:r>
          </a:p>
        </p:txBody>
      </p:sp>
      <p:sp>
        <p:nvSpPr>
          <p:cNvPr id="3" name="">
            <a:extLst xmlns:a="http://schemas.openxmlformats.org/drawingml/2006/main">
              <a:ext uri="{FF2B5EF4-FFF2-40B4-BE49-F238E27FC236}">
                <a16:creationId xmlns:a16="http://schemas.microsoft.com/office/drawing/2014/main" id="{022177BA-8013-43CA-A82F-51E28C2A12BC}"/>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T1 · T2</a:t>
            </a:r>
          </a:p>
        </p:txBody>
      </p:sp>
      <p:sp>
        <p:nvSpPr>
          <p:cNvPr id="4" name="">
            <a:extLst xmlns:a="http://schemas.openxmlformats.org/drawingml/2006/main">
              <a:ext uri="{FF2B5EF4-FFF2-40B4-BE49-F238E27FC236}">
                <a16:creationId xmlns:a16="http://schemas.microsoft.com/office/drawing/2014/main" id="{51414DB6-FD1D-46A3-A0CC-3624DC0E5006}"/>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Host SQLite schema checks: 9/9 passed</a:t>
            </a:r>
          </a:p>
        </p:txBody>
      </p:sp>
      <p:sp>
        <p:nvSpPr>
          <p:cNvPr id="5" name="">
            <a:extLst xmlns:a="http://schemas.openxmlformats.org/drawingml/2006/main">
              <a:ext uri="{FF2B5EF4-FFF2-40B4-BE49-F238E27FC236}">
                <a16:creationId xmlns:a16="http://schemas.microsoft.com/office/drawing/2014/main" id="{AB94F5C8-D557-483A-B5CB-ECAA71163E9D}"/>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Flutter and device suites are supplied, awaiting execution</a:t>
            </a:r>
          </a:p>
        </p:txBody>
      </p:sp>
      <p:sp>
        <p:nvSpPr>
          <p:cNvPr id="6" name="">
            <a:extLst xmlns:a="http://schemas.openxmlformats.org/drawingml/2006/main">
              <a:ext uri="{FF2B5EF4-FFF2-40B4-BE49-F238E27FC236}">
                <a16:creationId xmlns:a16="http://schemas.microsoft.com/office/drawing/2014/main" id="{A46BDBAA-B7B1-440D-881E-04D4D0DD6609}"/>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A deliberate failed write preserves input for retry</a:t>
            </a:r>
          </a:p>
        </p:txBody>
      </p:sp>
      <p:sp>
        <p:nvSpPr>
          <p:cNvPr id="7" name="">
            <a:extLst xmlns:a="http://schemas.openxmlformats.org/drawingml/2006/main">
              <a:ext uri="{FF2B5EF4-FFF2-40B4-BE49-F238E27FC236}">
                <a16:creationId xmlns:a16="http://schemas.microsoft.com/office/drawing/2014/main" id="{93B54040-5C81-4A98-85E4-E021126096D8}"/>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09 / 12</a:t>
            </a:r>
          </a:p>
        </p:txBody>
      </p:sp>
    </p:spTree>
    <p:extLst>
      <p:ext uri="{BB962C8B-B14F-4D97-AF65-F5344CB8AC3E}">
        <p14:creationId xmlns:p14="http://schemas.microsoft.com/office/powerpoint/2010/main" val="1012694350"/>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314F2E-CBA6-4E58-A077-992CE0D83B68}"/>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30B917BB-DDDF-413C-BC76-26D76FE1A9B5}"/>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Accessibility and design review</a:t>
            </a:r>
          </a:p>
        </p:txBody>
      </p:sp>
      <p:sp>
        <p:nvSpPr>
          <p:cNvPr id="3" name="">
            <a:extLst xmlns:a="http://schemas.openxmlformats.org/drawingml/2006/main">
              <a:ext uri="{FF2B5EF4-FFF2-40B4-BE49-F238E27FC236}">
                <a16:creationId xmlns:a16="http://schemas.microsoft.com/office/drawing/2014/main" id="{B0D635E1-C1A1-411A-815C-747FBFED467E}"/>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Afeef demonstration</a:t>
            </a:r>
          </a:p>
        </p:txBody>
      </p:sp>
      <p:sp>
        <p:nvSpPr>
          <p:cNvPr id="4" name="">
            <a:extLst xmlns:a="http://schemas.openxmlformats.org/drawingml/2006/main">
              <a:ext uri="{FF2B5EF4-FFF2-40B4-BE49-F238E27FC236}">
                <a16:creationId xmlns:a16="http://schemas.microsoft.com/office/drawing/2014/main" id="{ADE4E96E-F2FD-4C59-AD6E-639D1711D73F}"/>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Text accompanies saved-set progress</a:t>
            </a:r>
          </a:p>
        </p:txBody>
      </p:sp>
      <p:sp>
        <p:nvSpPr>
          <p:cNvPr id="5" name="">
            <a:extLst xmlns:a="http://schemas.openxmlformats.org/drawingml/2006/main">
              <a:ext uri="{FF2B5EF4-FFF2-40B4-BE49-F238E27FC236}">
                <a16:creationId xmlns:a16="http://schemas.microsoft.com/office/drawing/2014/main" id="{B7C75866-7867-4580-BB74-9209575B493E}"/>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Reduced motion controls optional transitions</a:t>
            </a:r>
          </a:p>
        </p:txBody>
      </p:sp>
      <p:sp>
        <p:nvSpPr>
          <p:cNvPr id="6" name="">
            <a:extLst xmlns:a="http://schemas.openxmlformats.org/drawingml/2006/main">
              <a:ext uri="{FF2B5EF4-FFF2-40B4-BE49-F238E27FC236}">
                <a16:creationId xmlns:a16="http://schemas.microsoft.com/office/drawing/2014/main" id="{41D9B4DB-72EA-413D-B9D7-32B0D6F0C1A3}"/>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Peer observation and verified revision remain to capture</a:t>
            </a:r>
          </a:p>
        </p:txBody>
      </p:sp>
      <p:sp>
        <p:nvSpPr>
          <p:cNvPr id="7" name="">
            <a:extLst xmlns:a="http://schemas.openxmlformats.org/drawingml/2006/main">
              <a:ext uri="{FF2B5EF4-FFF2-40B4-BE49-F238E27FC236}">
                <a16:creationId xmlns:a16="http://schemas.microsoft.com/office/drawing/2014/main" id="{85F83160-D1FD-4212-BF72-CA77E81903D6}"/>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10 / 12</a:t>
            </a:r>
          </a:p>
        </p:txBody>
      </p:sp>
    </p:spTree>
    <p:extLst>
      <p:ext uri="{BB962C8B-B14F-4D97-AF65-F5344CB8AC3E}">
        <p14:creationId xmlns:p14="http://schemas.microsoft.com/office/powerpoint/2010/main" val="1018639163"/>
      </p:ext>
    </p:extLst>
  </p:cSld>
</p:sld>
</file>

<file path=ppt/slides/slide1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8D02EA-8074-41DC-ABB4-00F5CD6A9683}"/>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7C24A7E7-AB7D-464D-ABD6-B40E9F9566D1}"/>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Individual task evidence</a:t>
            </a:r>
          </a:p>
        </p:txBody>
      </p:sp>
      <p:sp>
        <p:nvSpPr>
          <p:cNvPr id="3" name="">
            <a:extLst xmlns:a="http://schemas.openxmlformats.org/drawingml/2006/main">
              <a:ext uri="{FF2B5EF4-FFF2-40B4-BE49-F238E27FC236}">
                <a16:creationId xmlns:a16="http://schemas.microsoft.com/office/drawing/2014/main" id="{0F66EF8F-D4F0-495B-8048-F89194F597EC}"/>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R1</a:t>
            </a:r>
          </a:p>
        </p:txBody>
      </p:sp>
      <p:sp>
        <p:nvSpPr>
          <p:cNvPr id="4" name="">
            <a:extLst xmlns:a="http://schemas.openxmlformats.org/drawingml/2006/main">
              <a:ext uri="{FF2B5EF4-FFF2-40B4-BE49-F238E27FC236}">
                <a16:creationId xmlns:a16="http://schemas.microsoft.com/office/drawing/2014/main" id="{086A2AC9-B041-41C8-83A7-58586C8C6BBC}"/>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Afeef: original UI ownership with actual code/review trace</a:t>
            </a:r>
          </a:p>
        </p:txBody>
      </p:sp>
      <p:sp>
        <p:nvSpPr>
          <p:cNvPr id="5" name="">
            <a:extLst xmlns:a="http://schemas.openxmlformats.org/drawingml/2006/main">
              <a:ext uri="{FF2B5EF4-FFF2-40B4-BE49-F238E27FC236}">
                <a16:creationId xmlns:a16="http://schemas.microsoft.com/office/drawing/2014/main" id="{5DA34CD2-63FE-4104-9186-D4045F4E3FF8}"/>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Samad: original data/quality ownership with actual trace</a:t>
            </a:r>
          </a:p>
        </p:txBody>
      </p:sp>
      <p:sp>
        <p:nvSpPr>
          <p:cNvPr id="6" name="">
            <a:extLst xmlns:a="http://schemas.openxmlformats.org/drawingml/2006/main">
              <a:ext uri="{FF2B5EF4-FFF2-40B4-BE49-F238E27FC236}">
                <a16:creationId xmlns:a16="http://schemas.microsoft.com/office/drawing/2014/main" id="{1CE5B0A1-33A9-4748-86A8-AF7C53538260}"/>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ClickUp task, commit, code and test result</a:t>
            </a:r>
          </a:p>
        </p:txBody>
      </p:sp>
      <p:sp>
        <p:nvSpPr>
          <p:cNvPr id="7" name="">
            <a:extLst xmlns:a="http://schemas.openxmlformats.org/drawingml/2006/main">
              <a:ext uri="{FF2B5EF4-FFF2-40B4-BE49-F238E27FC236}">
                <a16:creationId xmlns:a16="http://schemas.microsoft.com/office/drawing/2014/main" id="{76F25D8D-297E-49F5-BEC7-90F7811F569B}"/>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11 / 12</a:t>
            </a:r>
          </a:p>
        </p:txBody>
      </p:sp>
    </p:spTree>
    <p:extLst>
      <p:ext uri="{BB962C8B-B14F-4D97-AF65-F5344CB8AC3E}">
        <p14:creationId xmlns:p14="http://schemas.microsoft.com/office/powerpoint/2010/main" val="134201358"/>
      </p:ext>
    </p:extLst>
  </p:cSld>
</p:sld>
</file>

<file path=ppt/slides/slide1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3EDD55-BFE2-4A35-83EC-1D25D82CBDE4}"/>
              </a:ext>
            </a:extLst>
          </p:cNvPr>
          <p:cNvSpPr>
            <a:spLocks xmlns:a="http://schemas.openxmlformats.org/drawingml/2006/main" noGrp="1"/>
          </p:cNvSpPr>
          <p:nvPr/>
        </p:nvSpPr>
        <p:spPr>
          <a:xfrm xmlns:a="http://schemas.openxmlformats.org/drawingml/2006/main">
            <a:off x="647700" y="361950"/>
            <a:ext cx="9048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8766B"/>
                </a:solidFill>
              </a:defRPr>
            </a:defPPr>
            <a:lvl1pPr>
              <a:defRPr sz="1350" b="1">
                <a:solidFill>
                  <a:srgbClr val="58766B"/>
                </a:solidFill>
              </a:defRPr>
            </a:lvl1pPr>
            <a:lvl2pPr>
              <a:defRPr sz="1350" b="1">
                <a:solidFill>
                  <a:srgbClr val="58766B"/>
                </a:solidFill>
              </a:defRPr>
            </a:lvl2pPr>
            <a:lvl3pPr>
              <a:defRPr sz="1350" b="1">
                <a:solidFill>
                  <a:srgbClr val="58766B"/>
                </a:solidFill>
              </a:defRPr>
            </a:lvl3pPr>
            <a:lvl4pPr>
              <a:defRPr sz="1350" b="1">
                <a:solidFill>
                  <a:srgbClr val="58766B"/>
                </a:solidFill>
              </a:defRPr>
            </a:lvl4pPr>
            <a:lvl5pPr>
              <a:defRPr sz="1350" b="1">
                <a:solidFill>
                  <a:srgbClr val="58766B"/>
                </a:solidFill>
              </a:defRPr>
            </a:lvl5pPr>
            <a:lvl6pPr>
              <a:defRPr sz="1350" b="1">
                <a:solidFill>
                  <a:srgbClr val="58766B"/>
                </a:solidFill>
              </a:defRPr>
            </a:lvl6pPr>
            <a:lvl7pPr>
              <a:defRPr sz="1350" b="1">
                <a:solidFill>
                  <a:srgbClr val="58766B"/>
                </a:solidFill>
              </a:defRPr>
            </a:lvl7pPr>
            <a:lvl8pPr>
              <a:defRPr sz="1350" b="1">
                <a:solidFill>
                  <a:srgbClr val="58766B"/>
                </a:solidFill>
              </a:defRPr>
            </a:lvl8pPr>
            <a:lvl9pPr>
              <a:defRPr sz="1350" b="1">
                <a:solidFill>
                  <a:srgbClr val="58766B"/>
                </a:solidFill>
              </a:defRPr>
            </a:lvl9pPr>
          </a:lstStyle>
          <a:p xmlns:a="http://schemas.openxmlformats.org/drawingml/2006/main">
            <a:pPr>
              <a:defRPr sz="1350" b="1">
                <a:solidFill>
                  <a:srgbClr val="58766B"/>
                </a:solidFill>
              </a:defRPr>
            </a:pPr>
            <a:r>
              <a:rPr sz="1350" b="1">
                <a:solidFill>
                  <a:srgbClr val="58766B"/>
                </a:solidFill>
              </a:rPr>
              <a:t>MOVEMENT QUEST</a:t>
            </a:r>
          </a:p>
        </p:txBody>
      </p:sp>
      <p:sp>
        <p:nvSpPr>
          <p:cNvPr id="2" name="">
            <a:extLst xmlns:a="http://schemas.openxmlformats.org/drawingml/2006/main">
              <a:ext uri="{FF2B5EF4-FFF2-40B4-BE49-F238E27FC236}">
                <a16:creationId xmlns:a16="http://schemas.microsoft.com/office/drawing/2014/main" id="{FA82F049-EBCC-4B7F-9ECA-0362AD9FA3C3}"/>
              </a:ext>
            </a:extLst>
          </p:cNvPr>
          <p:cNvSpPr>
            <a:spLocks xmlns:a="http://schemas.openxmlformats.org/drawingml/2006/main" noGrp="1"/>
          </p:cNvSpPr>
          <p:nvPr/>
        </p:nvSpPr>
        <p:spPr>
          <a:xfrm xmlns:a="http://schemas.openxmlformats.org/drawingml/2006/main">
            <a:off x="647700" y="990600"/>
            <a:ext cx="10763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75" b="1">
                <a:solidFill>
                  <a:srgbClr val="163B32"/>
                </a:solidFill>
              </a:defRPr>
            </a:defPPr>
            <a:lvl1pPr>
              <a:defRPr sz="3675" b="1">
                <a:solidFill>
                  <a:srgbClr val="163B32"/>
                </a:solidFill>
              </a:defRPr>
            </a:lvl1pPr>
            <a:lvl2pPr>
              <a:defRPr sz="3675" b="1">
                <a:solidFill>
                  <a:srgbClr val="163B32"/>
                </a:solidFill>
              </a:defRPr>
            </a:lvl2pPr>
            <a:lvl3pPr>
              <a:defRPr sz="3675" b="1">
                <a:solidFill>
                  <a:srgbClr val="163B32"/>
                </a:solidFill>
              </a:defRPr>
            </a:lvl3pPr>
            <a:lvl4pPr>
              <a:defRPr sz="3675" b="1">
                <a:solidFill>
                  <a:srgbClr val="163B32"/>
                </a:solidFill>
              </a:defRPr>
            </a:lvl4pPr>
            <a:lvl5pPr>
              <a:defRPr sz="3675" b="1">
                <a:solidFill>
                  <a:srgbClr val="163B32"/>
                </a:solidFill>
              </a:defRPr>
            </a:lvl5pPr>
            <a:lvl6pPr>
              <a:defRPr sz="3675" b="1">
                <a:solidFill>
                  <a:srgbClr val="163B32"/>
                </a:solidFill>
              </a:defRPr>
            </a:lvl6pPr>
            <a:lvl7pPr>
              <a:defRPr sz="3675" b="1">
                <a:solidFill>
                  <a:srgbClr val="163B32"/>
                </a:solidFill>
              </a:defRPr>
            </a:lvl7pPr>
            <a:lvl8pPr>
              <a:defRPr sz="3675" b="1">
                <a:solidFill>
                  <a:srgbClr val="163B32"/>
                </a:solidFill>
              </a:defRPr>
            </a:lvl8pPr>
            <a:lvl9pPr>
              <a:defRPr sz="3675" b="1">
                <a:solidFill>
                  <a:srgbClr val="163B32"/>
                </a:solidFill>
              </a:defRPr>
            </a:lvl9pPr>
          </a:lstStyle>
          <a:p xmlns:a="http://schemas.openxmlformats.org/drawingml/2006/main">
            <a:pPr>
              <a:defRPr sz="3675" b="1">
                <a:solidFill>
                  <a:srgbClr val="163B32"/>
                </a:solidFill>
              </a:defRPr>
            </a:pPr>
            <a:r>
              <a:rPr sz="3675" b="1">
                <a:solidFill>
                  <a:srgbClr val="163B32"/>
                </a:solidFill>
              </a:rPr>
              <a:t>Release and reflection</a:t>
            </a:r>
          </a:p>
        </p:txBody>
      </p:sp>
      <p:sp>
        <p:nvSpPr>
          <p:cNvPr id="3" name="">
            <a:extLst xmlns:a="http://schemas.openxmlformats.org/drawingml/2006/main">
              <a:ext uri="{FF2B5EF4-FFF2-40B4-BE49-F238E27FC236}">
                <a16:creationId xmlns:a16="http://schemas.microsoft.com/office/drawing/2014/main" id="{30FF752F-180D-4FE8-9D31-7853936EDD98}"/>
              </a:ext>
            </a:extLst>
          </p:cNvPr>
          <p:cNvSpPr>
            <a:spLocks xmlns:a="http://schemas.openxmlformats.org/drawingml/2006/main" noGrp="1"/>
          </p:cNvSpPr>
          <p:nvPr/>
        </p:nvSpPr>
        <p:spPr>
          <a:xfrm xmlns:a="http://schemas.openxmlformats.org/drawingml/2006/main">
            <a:off x="685800" y="2228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426B5B"/>
                </a:solidFill>
              </a:defRPr>
            </a:defPPr>
            <a:lvl1pPr>
              <a:defRPr sz="2175" b="0">
                <a:solidFill>
                  <a:srgbClr val="426B5B"/>
                </a:solidFill>
              </a:defRPr>
            </a:lvl1pPr>
            <a:lvl2pPr>
              <a:defRPr sz="2175" b="0">
                <a:solidFill>
                  <a:srgbClr val="426B5B"/>
                </a:solidFill>
              </a:defRPr>
            </a:lvl2pPr>
            <a:lvl3pPr>
              <a:defRPr sz="2175" b="0">
                <a:solidFill>
                  <a:srgbClr val="426B5B"/>
                </a:solidFill>
              </a:defRPr>
            </a:lvl3pPr>
            <a:lvl4pPr>
              <a:defRPr sz="2175" b="0">
                <a:solidFill>
                  <a:srgbClr val="426B5B"/>
                </a:solidFill>
              </a:defRPr>
            </a:lvl4pPr>
            <a:lvl5pPr>
              <a:defRPr sz="2175" b="0">
                <a:solidFill>
                  <a:srgbClr val="426B5B"/>
                </a:solidFill>
              </a:defRPr>
            </a:lvl5pPr>
            <a:lvl6pPr>
              <a:defRPr sz="2175" b="0">
                <a:solidFill>
                  <a:srgbClr val="426B5B"/>
                </a:solidFill>
              </a:defRPr>
            </a:lvl6pPr>
            <a:lvl7pPr>
              <a:defRPr sz="2175" b="0">
                <a:solidFill>
                  <a:srgbClr val="426B5B"/>
                </a:solidFill>
              </a:defRPr>
            </a:lvl7pPr>
            <a:lvl8pPr>
              <a:defRPr sz="2175" b="0">
                <a:solidFill>
                  <a:srgbClr val="426B5B"/>
                </a:solidFill>
              </a:defRPr>
            </a:lvl8pPr>
            <a:lvl9pPr>
              <a:defRPr sz="2175" b="0">
                <a:solidFill>
                  <a:srgbClr val="426B5B"/>
                </a:solidFill>
              </a:defRPr>
            </a:lvl9pPr>
          </a:lstStyle>
          <a:p xmlns:a="http://schemas.openxmlformats.org/drawingml/2006/main">
            <a:pPr>
              <a:defRPr sz="2175" b="0">
                <a:solidFill>
                  <a:srgbClr val="426B5B"/>
                </a:solidFill>
              </a:defRPr>
            </a:pPr>
            <a:r>
              <a:rPr sz="2175" b="0">
                <a:solidFill>
                  <a:srgbClr val="426B5B"/>
                </a:solidFill>
              </a:rPr>
              <a:t>Final verification</a:t>
            </a:r>
          </a:p>
        </p:txBody>
      </p:sp>
      <p:sp>
        <p:nvSpPr>
          <p:cNvPr id="4" name="">
            <a:extLst xmlns:a="http://schemas.openxmlformats.org/drawingml/2006/main">
              <a:ext uri="{FF2B5EF4-FFF2-40B4-BE49-F238E27FC236}">
                <a16:creationId xmlns:a16="http://schemas.microsoft.com/office/drawing/2014/main" id="{12C70EBD-880D-42E5-8F4A-00D2D5FFB4F9}"/>
              </a:ext>
            </a:extLst>
          </p:cNvPr>
          <p:cNvSpPr>
            <a:spLocks xmlns:a="http://schemas.openxmlformats.org/drawingml/2006/main" noGrp="1"/>
          </p:cNvSpPr>
          <p:nvPr/>
        </p:nvSpPr>
        <p:spPr>
          <a:xfrm xmlns:a="http://schemas.openxmlformats.org/drawingml/2006/main">
            <a:off x="685800" y="33337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Install and test the release APK on two configurations</a:t>
            </a:r>
          </a:p>
        </p:txBody>
      </p:sp>
      <p:sp>
        <p:nvSpPr>
          <p:cNvPr id="5" name="">
            <a:extLst xmlns:a="http://schemas.openxmlformats.org/drawingml/2006/main">
              <a:ext uri="{FF2B5EF4-FFF2-40B4-BE49-F238E27FC236}">
                <a16:creationId xmlns:a16="http://schemas.microsoft.com/office/drawing/2014/main" id="{87760C32-54FA-43FC-A911-5B4CFEA13E07}"/>
              </a:ext>
            </a:extLst>
          </p:cNvPr>
          <p:cNvSpPr>
            <a:spLocks xmlns:a="http://schemas.openxmlformats.org/drawingml/2006/main" noGrp="1"/>
          </p:cNvSpPr>
          <p:nvPr/>
        </p:nvSpPr>
        <p:spPr>
          <a:xfrm xmlns:a="http://schemas.openxmlformats.org/drawingml/2006/main">
            <a:off x="685800" y="40576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Complete signed, approval, board and video evidence</a:t>
            </a:r>
          </a:p>
        </p:txBody>
      </p:sp>
      <p:sp>
        <p:nvSpPr>
          <p:cNvPr id="6" name="">
            <a:extLst xmlns:a="http://schemas.openxmlformats.org/drawingml/2006/main">
              <a:ext uri="{FF2B5EF4-FFF2-40B4-BE49-F238E27FC236}">
                <a16:creationId xmlns:a16="http://schemas.microsoft.com/office/drawing/2014/main" id="{C963BFAB-0CCC-4A2C-BD06-8C15FE8D2A0B}"/>
              </a:ext>
            </a:extLst>
          </p:cNvPr>
          <p:cNvSpPr>
            <a:spLocks xmlns:a="http://schemas.openxmlformats.org/drawingml/2006/main" noGrp="1"/>
          </p:cNvSpPr>
          <p:nvPr/>
        </p:nvSpPr>
        <p:spPr>
          <a:xfrm xmlns:a="http://schemas.openxmlformats.org/drawingml/2006/main">
            <a:off x="685800" y="478155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253C33"/>
                </a:solidFill>
              </a:defRPr>
            </a:defPPr>
            <a:lvl1pPr>
              <a:defRPr sz="2100" b="0">
                <a:solidFill>
                  <a:srgbClr val="253C33"/>
                </a:solidFill>
              </a:defRPr>
            </a:lvl1pPr>
            <a:lvl2pPr>
              <a:defRPr sz="2100" b="0">
                <a:solidFill>
                  <a:srgbClr val="253C33"/>
                </a:solidFill>
              </a:defRPr>
            </a:lvl2pPr>
            <a:lvl3pPr>
              <a:defRPr sz="2100" b="0">
                <a:solidFill>
                  <a:srgbClr val="253C33"/>
                </a:solidFill>
              </a:defRPr>
            </a:lvl3pPr>
            <a:lvl4pPr>
              <a:defRPr sz="2100" b="0">
                <a:solidFill>
                  <a:srgbClr val="253C33"/>
                </a:solidFill>
              </a:defRPr>
            </a:lvl4pPr>
            <a:lvl5pPr>
              <a:defRPr sz="2100" b="0">
                <a:solidFill>
                  <a:srgbClr val="253C33"/>
                </a:solidFill>
              </a:defRPr>
            </a:lvl5pPr>
            <a:lvl6pPr>
              <a:defRPr sz="2100" b="0">
                <a:solidFill>
                  <a:srgbClr val="253C33"/>
                </a:solidFill>
              </a:defRPr>
            </a:lvl6pPr>
            <a:lvl7pPr>
              <a:defRPr sz="2100" b="0">
                <a:solidFill>
                  <a:srgbClr val="253C33"/>
                </a:solidFill>
              </a:defRPr>
            </a:lvl7pPr>
            <a:lvl8pPr>
              <a:defRPr sz="2100" b="0">
                <a:solidFill>
                  <a:srgbClr val="253C33"/>
                </a:solidFill>
              </a:defRPr>
            </a:lvl8pPr>
            <a:lvl9pPr>
              <a:defRPr sz="2100" b="0">
                <a:solidFill>
                  <a:srgbClr val="253C33"/>
                </a:solidFill>
              </a:defRPr>
            </a:lvl9pPr>
          </a:lstStyle>
          <a:p xmlns:a="http://schemas.openxmlformats.org/drawingml/2006/main">
            <a:pPr>
              <a:defRPr sz="2100" b="0">
                <a:solidFill>
                  <a:srgbClr val="253C33"/>
                </a:solidFill>
              </a:defRPr>
            </a:pPr>
            <a:r>
              <a:rPr sz="2100" b="0">
                <a:solidFill>
                  <a:srgbClr val="253C33"/>
                </a:solidFill>
              </a:rPr>
              <a:t>Each member explains one real lesson and limitation</a:t>
            </a:r>
          </a:p>
        </p:txBody>
      </p:sp>
      <p:sp>
        <p:nvSpPr>
          <p:cNvPr id="7" name="">
            <a:extLst xmlns:a="http://schemas.openxmlformats.org/drawingml/2006/main">
              <a:ext uri="{FF2B5EF4-FFF2-40B4-BE49-F238E27FC236}">
                <a16:creationId xmlns:a16="http://schemas.microsoft.com/office/drawing/2014/main" id="{EB0CA99B-D81E-420B-8F89-152AE607C7AA}"/>
              </a:ext>
            </a:extLst>
          </p:cNvPr>
          <p:cNvSpPr>
            <a:spLocks xmlns:a="http://schemas.openxmlformats.org/drawingml/2006/main" noGrp="1"/>
          </p:cNvSpPr>
          <p:nvPr/>
        </p:nvSpPr>
        <p:spPr>
          <a:xfrm xmlns:a="http://schemas.openxmlformats.org/drawingml/2006/main">
            <a:off x="10477500" y="63055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58766B"/>
                </a:solidFill>
              </a:defRPr>
            </a:defPPr>
            <a:lvl1pPr>
              <a:defRPr sz="1200" b="0">
                <a:solidFill>
                  <a:srgbClr val="58766B"/>
                </a:solidFill>
              </a:defRPr>
            </a:lvl1pPr>
            <a:lvl2pPr>
              <a:defRPr sz="1200" b="0">
                <a:solidFill>
                  <a:srgbClr val="58766B"/>
                </a:solidFill>
              </a:defRPr>
            </a:lvl2pPr>
            <a:lvl3pPr>
              <a:defRPr sz="1200" b="0">
                <a:solidFill>
                  <a:srgbClr val="58766B"/>
                </a:solidFill>
              </a:defRPr>
            </a:lvl3pPr>
            <a:lvl4pPr>
              <a:defRPr sz="1200" b="0">
                <a:solidFill>
                  <a:srgbClr val="58766B"/>
                </a:solidFill>
              </a:defRPr>
            </a:lvl4pPr>
            <a:lvl5pPr>
              <a:defRPr sz="1200" b="0">
                <a:solidFill>
                  <a:srgbClr val="58766B"/>
                </a:solidFill>
              </a:defRPr>
            </a:lvl5pPr>
            <a:lvl6pPr>
              <a:defRPr sz="1200" b="0">
                <a:solidFill>
                  <a:srgbClr val="58766B"/>
                </a:solidFill>
              </a:defRPr>
            </a:lvl6pPr>
            <a:lvl7pPr>
              <a:defRPr sz="1200" b="0">
                <a:solidFill>
                  <a:srgbClr val="58766B"/>
                </a:solidFill>
              </a:defRPr>
            </a:lvl7pPr>
            <a:lvl8pPr>
              <a:defRPr sz="1200" b="0">
                <a:solidFill>
                  <a:srgbClr val="58766B"/>
                </a:solidFill>
              </a:defRPr>
            </a:lvl8pPr>
            <a:lvl9pPr>
              <a:defRPr sz="1200" b="0">
                <a:solidFill>
                  <a:srgbClr val="58766B"/>
                </a:solidFill>
              </a:defRPr>
            </a:lvl9pPr>
          </a:lstStyle>
          <a:p xmlns:a="http://schemas.openxmlformats.org/drawingml/2006/main">
            <a:pPr>
              <a:defRPr sz="1200" b="0">
                <a:solidFill>
                  <a:srgbClr val="58766B"/>
                </a:solidFill>
              </a:defRPr>
            </a:pPr>
            <a:r>
              <a:rPr sz="1200" b="0">
                <a:solidFill>
                  <a:srgbClr val="58766B"/>
                </a:solidFill>
              </a:rPr>
              <a:t>12 / 12</a:t>
            </a:r>
          </a:p>
        </p:txBody>
      </p:sp>
    </p:spTree>
    <p:extLst>
      <p:ext uri="{BB962C8B-B14F-4D97-AF65-F5344CB8AC3E}">
        <p14:creationId xmlns:p14="http://schemas.microsoft.com/office/powerpoint/2010/main" val="191575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2026-10-23T01:35:01.7580000Z</dcterms:created>
  <dcterms:modified xsi:type="dcterms:W3CDTF">2026-10-23T01:35:01.7590000Z</dcterms:modified>
</coreProperties>
</file>