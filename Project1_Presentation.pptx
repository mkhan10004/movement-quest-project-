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e7663e4f5241f5" /><Relationship Type="http://schemas.openxmlformats.org/officeDocument/2006/relationships/extended-properties" Target="/docProps/app.xml" Id="R65bef107ca124729" /><Relationship Type="http://schemas.openxmlformats.org/officeDocument/2006/relationships/officeDocument" Target="/ppt/presentation.xml" Id="R6819891fb7ae4bd6" /></Relationships>
</file>

<file path=ppt/presentation.xml><?xml version="1.0" encoding="utf-8"?>
<p:presentation xmlns:p="http://schemas.openxmlformats.org/presentationml/2006/main">
  <p:sldMasterIdLst>
    <p:sldMasterId xmlns:r="http://schemas.openxmlformats.org/officeDocument/2006/relationships" id="2147483648" r:id="R80e70bf991c1446e"/>
  </p:sldMasterIdLst>
  <p:notesMasterIdLst>
    <p:notesMasterId xmlns:r="http://schemas.openxmlformats.org/officeDocument/2006/relationships" r:id="Re4f70903996542b8"/>
  </p:notesMasterIdLst>
  <p:sldIdLst>
    <p:sldId xmlns:r="http://schemas.openxmlformats.org/officeDocument/2006/relationships" id="256" r:id="R011995b3603945be"/>
    <p:sldId xmlns:r="http://schemas.openxmlformats.org/officeDocument/2006/relationships" id="257" r:id="R19b8467c98374d64"/>
    <p:sldId xmlns:r="http://schemas.openxmlformats.org/officeDocument/2006/relationships" id="258" r:id="R70793de53b724157"/>
    <p:sldId xmlns:r="http://schemas.openxmlformats.org/officeDocument/2006/relationships" id="259" r:id="R4d329ff4bd2c4f37"/>
    <p:sldId xmlns:r="http://schemas.openxmlformats.org/officeDocument/2006/relationships" id="260" r:id="Rbfc853b278024a56"/>
    <p:sldId xmlns:r="http://schemas.openxmlformats.org/officeDocument/2006/relationships" id="261" r:id="R5fae05ca823d48aa"/>
    <p:sldId xmlns:r="http://schemas.openxmlformats.org/officeDocument/2006/relationships" id="262" r:id="R973b8586129c4641"/>
    <p:sldId xmlns:r="http://schemas.openxmlformats.org/officeDocument/2006/relationships" id="263" r:id="Ra8d60a7397c24a43"/>
    <p:sldId xmlns:r="http://schemas.openxmlformats.org/officeDocument/2006/relationships" id="264" r:id="R4020b9dc3a9647ed"/>
    <p:sldId xmlns:r="http://schemas.openxmlformats.org/officeDocument/2006/relationships" id="265" r:id="R244ec43b90a6432c"/>
    <p:sldId xmlns:r="http://schemas.openxmlformats.org/officeDocument/2006/relationships" id="266" r:id="Rfa76c3dcb2b842ad"/>
    <p:sldId xmlns:r="http://schemas.openxmlformats.org/officeDocument/2006/relationships" id="267" r:id="R5d7b2c84a73b4a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fde66e0ed84981" /><Relationship Type="http://schemas.openxmlformats.org/officeDocument/2006/relationships/slideMaster" Target="/ppt/slideMasters/slideMaster1.xml" Id="R80e70bf991c1446e" /><Relationship Type="http://schemas.openxmlformats.org/officeDocument/2006/relationships/notesMaster" Target="/ppt/notesMasters/notesMaster1.xml" Id="Re4f70903996542b8" /><Relationship Type="http://schemas.openxmlformats.org/officeDocument/2006/relationships/presProps" Target="/ppt/presProps.xml" Id="R8063a178cd1a4843" /><Relationship Type="http://schemas.openxmlformats.org/officeDocument/2006/relationships/tableStyles" Target="/ppt/tableStyles.xml" Id="R40583b222aaa4de1" /><Relationship Type="http://schemas.openxmlformats.org/officeDocument/2006/relationships/slide" Target="/ppt/slides/slide1.xml" Id="R011995b3603945be" /><Relationship Type="http://schemas.openxmlformats.org/officeDocument/2006/relationships/slide" Target="/ppt/slides/slide2.xml" Id="R19b8467c98374d64" /><Relationship Type="http://schemas.openxmlformats.org/officeDocument/2006/relationships/slide" Target="/ppt/slides/slide3.xml" Id="R70793de53b724157" /><Relationship Type="http://schemas.openxmlformats.org/officeDocument/2006/relationships/slide" Target="/ppt/slides/slide4.xml" Id="R4d329ff4bd2c4f37" /><Relationship Type="http://schemas.openxmlformats.org/officeDocument/2006/relationships/slide" Target="/ppt/slides/slide5.xml" Id="Rbfc853b278024a56" /><Relationship Type="http://schemas.openxmlformats.org/officeDocument/2006/relationships/slide" Target="/ppt/slides/slide6.xml" Id="R5fae05ca823d48aa" /><Relationship Type="http://schemas.openxmlformats.org/officeDocument/2006/relationships/slide" Target="/ppt/slides/slide7.xml" Id="R973b8586129c4641" /><Relationship Type="http://schemas.openxmlformats.org/officeDocument/2006/relationships/slide" Target="/ppt/slides/slide8.xml" Id="Ra8d60a7397c24a43" /><Relationship Type="http://schemas.openxmlformats.org/officeDocument/2006/relationships/slide" Target="/ppt/slides/slide9.xml" Id="R4020b9dc3a9647ed" /><Relationship Type="http://schemas.openxmlformats.org/officeDocument/2006/relationships/slide" Target="/ppt/slides/slide10.xml" Id="R244ec43b90a6432c" /><Relationship Type="http://schemas.openxmlformats.org/officeDocument/2006/relationships/slide" Target="/ppt/slides/slide11.xml" Id="Rfa76c3dcb2b842ad" /><Relationship Type="http://schemas.openxmlformats.org/officeDocument/2006/relationships/slide" Target="/ppt/slides/slide12.xml" Id="R5d7b2c84a73b4a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076ee30bab49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dd18bb991e40be" /><Relationship Type="http://schemas.openxmlformats.org/officeDocument/2006/relationships/notesMaster" Target="/ppt/notesMasters/notesMaster1.xml" Id="Rabdc9ab0abbd44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4b686dcd4047c3" /><Relationship Type="http://schemas.openxmlformats.org/officeDocument/2006/relationships/notesMaster" Target="/ppt/notesMasters/notesMaster1.xml" Id="R2b2bb81d584b41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f56fb6cf7447d4" /><Relationship Type="http://schemas.openxmlformats.org/officeDocument/2006/relationships/notesMaster" Target="/ppt/notesMasters/notesMaster1.xml" Id="R4fa6804c03bc48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c862a6a1704a7e" /><Relationship Type="http://schemas.openxmlformats.org/officeDocument/2006/relationships/notesMaster" Target="/ppt/notesMasters/notesMaster1.xml" Id="R2a2d8aec281c40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b68dfcc0f94561" /><Relationship Type="http://schemas.openxmlformats.org/officeDocument/2006/relationships/notesMaster" Target="/ppt/notesMasters/notesMaster1.xml" Id="R457a7720f65042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64f80b77f2480e" /><Relationship Type="http://schemas.openxmlformats.org/officeDocument/2006/relationships/notesMaster" Target="/ppt/notesMasters/notesMaster1.xml" Id="R3ba13febef4145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e449d55bd24210" /><Relationship Type="http://schemas.openxmlformats.org/officeDocument/2006/relationships/notesMaster" Target="/ppt/notesMasters/notesMaster1.xml" Id="R81311474ae9943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98a37cc98e4e8a" /><Relationship Type="http://schemas.openxmlformats.org/officeDocument/2006/relationships/notesMaster" Target="/ppt/notesMasters/notesMaster1.xml" Id="R51f5c37cf06e40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f23a2d6f0944d2" /><Relationship Type="http://schemas.openxmlformats.org/officeDocument/2006/relationships/notesMaster" Target="/ppt/notesMasters/notesMaster1.xml" Id="Rb87cfab9957146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8d11d3a4b4485f" /><Relationship Type="http://schemas.openxmlformats.org/officeDocument/2006/relationships/notesMaster" Target="/ppt/notesMasters/notesMaster1.xml" Id="Rfb123a262df844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446d02a6ad40fd" /><Relationship Type="http://schemas.openxmlformats.org/officeDocument/2006/relationships/notesMaster" Target="/ppt/notesMasters/notesMaster1.xml" Id="Rc5f71f3b9fa14f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2840f3d71d4ae4" /><Relationship Type="http://schemas.openxmlformats.org/officeDocument/2006/relationships/notesMaster" Target="/ppt/notesMasters/notesMaster1.xml" Id="R296ddfb4834e45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Both introduce themselves. Explain the app purpose: one exercise per plan, recording actual sets, no medical or competitive claims. Proposal approval must be verified before describing it as approved.</a:t>
            </a:r>
          </a:p>
          <a:p xmlns:a="http://schemas.openxmlformats.org/drawingml/2006/main">
            <a:r>
              <a:t>October 24 update: screenshots are real supplied captures. Afeef reports operation on two devices. Latest APK/source, complete Flutter/device logs, personal reflections and collaboration evidence remain to supply. Do not present suggested narration as a completed personal experience. Source: supplied course instructions, available project source and evidence/app_screenshots.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1:00–2:00. State original proposal responsibilities, not invented completed contributions. Afeef reviews accessibility/integration and helper reasoning. Samad coordinates quality. Explain that individual evidence appears later.</a:t>
            </a:r>
          </a:p>
          <a:p xmlns:a="http://schemas.openxmlformats.org/drawingml/2006/main">
            <a:r>
              <a:t>October 24 update: screenshots are real supplied captures. Afeef reports operation on two devices. Latest APK/source, complete Flutter/device logs, personal reflections and collaboration evidence remain to supply. Do not present suggested narration as a completed personal experience. Source: supplied course instructions, available project source and evidence/app_screenshots.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2:00–4:30. Afeef demonstrates catalog then create/edit form. I1: compare StatelessWidget PlanCard in widgets/common.dart with StatefulWidget PlanEditor. build renders current state; expansion state belongs to CatalogScreen. I2: trace the intensity Slider callback to setState, then Save to WorkoutPlan and repository. Explain target versus actual reps. Show invalid name and numeric bounds.</a:t>
            </a:r>
          </a:p>
          <a:p xmlns:a="http://schemas.openxmlformats.org/drawingml/2006/main">
            <a:r>
              <a:t>October 24 update: screenshots are real supplied captures. Afeef reports operation on two devices. Latest APK/source, complete Flutter/device logs, personal reflections and collaboration evidence remain to supply. Do not present suggested narration as a completed personal experience. Source: supplied course instructions, available project source and evidence/app_screenshots.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4:30–7:00. Samad demonstrates Start, repeated tap guard, logging, correction, Undo, Finish and Reset. Show start/saveSet/finish/reset in quest_repository.dart. Explain transaction, expected list length, unique draft index and stable token. Demonstrate both confirmed and cancelled reset or delete. Finish twice must leave one completed session.</a:t>
            </a:r>
          </a:p>
          <a:p xmlns:a="http://schemas.openxmlformats.org/drawingml/2006/main">
            <a:r>
              <a:t>October 24 update: screenshots are real supplied captures. Afeef reports operation on two devices. Latest APK/source, complete Flutter/device logs, personal reflections and collaboration evidence remain to supply. Do not present suggested narration as a completed personal experience. Source: supplied course instructions, available project source and evidence/app_screenshots.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7:00–9:00. Samad demonstrates child CRUD and cascade policy for D1. Afeef changes theme/equipment/motion and performs the actual offline restart for D2. Explain SQLite relationship data versus the small SharedPreferences object. GitHub/ClickUp/YouTube are coordination/submission tools, not runtime app backends. Do not claim restart success before demonstrating it.</a:t>
            </a:r>
          </a:p>
          <a:p xmlns:a="http://schemas.openxmlformats.org/drawingml/2006/main">
            <a:r>
              <a:t>October 24 update: screenshots are real supplied captures. Afeef reports operation on two devices. Latest APK/source, complete Flutter/device logs, personal reflections and collaboration evidence remain to supply. Do not present suggested narration as a completed personal experience. Source: supplied course instructions, available project source and evidence/app_screenshots.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9:00–11:00. Afeef answers A1 by tracing editor Save through controller.write to repository.savePlan and refresh. A2: show controller disposal in editor/detail, mounted checks after awaits, no timer dependency and root repository ownership. Samad explains close/reopen semantics. Demonstrate leaving a screen before a read finishes where feasible.</a:t>
            </a:r>
          </a:p>
          <a:p xmlns:a="http://schemas.openxmlformats.org/drawingml/2006/main">
            <a:r>
              <a:t>October 24 update: screenshots are real supplied captures. Afeef reports operation on two devices. Latest APK/source, complete Flutter/device logs, personal reflections and collaboration evidence remain to supply. Do not present suggested narration as a completed personal experience. Source: supplied course instructions, available project source and evidence/app_screenshots.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11:00–13:00. Samad shows services/plan_helper.dart and input categories/count timestamps. Counts cover the preceding seven days inclusively and cap at two. Ties use lowest ID. Demonstrate reason text, Not now and manual override. Afeef explains how equipment preference changes the next ranking. Label the method rule-based, not trained ML.</a:t>
            </a:r>
          </a:p>
          <a:p xmlns:a="http://schemas.openxmlformats.org/drawingml/2006/main">
            <a:r>
              <a:t>October 24 update: screenshots are real supplied captures. Afeef reports operation on two devices. Latest APK/source, complete Flutter/device logs, personal reflections and collaboration evidence remain to supply. Do not present suggested narration as a completed personal experience. Source: supplied course instructions, available project source and evidence/app_screenshots.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13:00–14:30. Samad opens evidence/helper_results.json and tool/helper_fixtures.dart. The evaluator ran in Dart 3.13.5. The 7 valid labels exclude 3 empty/invalid cases. A user may prefer a recent plan, so the convenience ranking mismatches that label. Explain nearest-neighbor alternative and retained limitation. This is not held-out testing, population accuracy or health evidence.</a:t>
            </a:r>
          </a:p>
          <a:p xmlns:a="http://schemas.openxmlformats.org/drawingml/2006/main">
            <a:r>
              <a:t>October 24 update: screenshots are real supplied captures. Afeef reports operation on two devices. Latest APK/source, complete Flutter/device logs, personal reflections and collaboration evidence remain to supply. Do not present suggested narration as a completed personal experience. Source: supplied course instructions, available project source and evidence/app_screenshots.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14:30–17:00. Samad answers T1 using manual acceptance matrix and actual run outputs when available. Host SQL checks do not run Dart repository or native plugins. Show two actual device configurations after testing. T2: run --dart-define=ENABLE_FAILURE_DEMO=true, arm bug icon, save a plan, observe retained input and retry. Describe this as deliberately tested failure, not an invented historical bug. Update this slide with real Flutter/device results before final recording.</a:t>
            </a:r>
          </a:p>
          <a:p xmlns:a="http://schemas.openxmlformats.org/drawingml/2006/main">
            <a:r>
              <a:t>October 24 update: screenshots are real supplied captures. Afeef reports operation on two devices. Latest APK/source, complete Flutter/device logs, personal reflections and collaboration evidence remain to supply. Do not present suggested narration as a completed personal experience. Source: supplied course instructions, available project source and evidence/app_screenshots.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17:00–19:00. Afeef shows enlarged text, landscape, keyboard access and reduced motion on the actual app. Compare a genuine before/after design revision after a peer review. Use docs/PEER_REVIEW.md. No fabricated observation is allowed; update this slide when the review has actually happened.</a:t>
            </a:r>
          </a:p>
          <a:p xmlns:a="http://schemas.openxmlformats.org/drawingml/2006/main">
            <a:r>
              <a:t>October 24 update: screenshots are real supplied captures. Afeef reports operation on two devices. Latest APK/source, complete Flutter/device logs, personal reflections and collaboration evidence remain to supply. Do not present suggested narration as a completed personal experience. Source: supplied course instructions, available project source and evidence/app_screenshots.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19:00–21:30. Each member answers R1 with their real feature branch/PR/commit and review. Show task owner, acceptance criteria, exact code and test outcome. Include the four dated snapshots and one measured flow improvement. Do not claim generated files prove independent authorship. Refer to AI_Usage_Log.md for assistance.</a:t>
            </a:r>
          </a:p>
          <a:p xmlns:a="http://schemas.openxmlformats.org/drawingml/2006/main">
            <a:r>
              <a:t>October 24 update: screenshots are real supplied captures. Afeef reports operation on two devices. Latest APK/source, complete Flutter/device logs, personal reflections and collaboration evidence remain to supply. Do not present suggested narration as a completed personal experience. Source: supplied course instructions, available project source and evidence/app_screenshots.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21:30–23:00. Each member summarizes one real learning experience and a next improvement. Check all selected IDs I1/I2/A1/A2/D1/D2/T1/T2/R1/R4 have been answered in the recording. The final package needs approved proposal, signed acknowledgment, final report, evidence, tested APK and accessible video. Keep total recording 20–25 minutes.</a:t>
            </a:r>
          </a:p>
          <a:p xmlns:a="http://schemas.openxmlformats.org/drawingml/2006/main">
            <a:r>
              <a:t>October 24 update: screenshots are real supplied captures. Afeef reports operation on two devices. Latest APK/source, complete Flutter/device logs, personal reflections and collaboration evidence remain to supply. Do not present suggested narration as a completed personal experience. Source: supplied course instructions, available project source and evidence/app_screenshots.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328bea5d1d4e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8ce2e35bdb41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aa66e907a946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c0ca84d94d42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fec91458c90471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df53a034f845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4A7D0D-22B0-4080-A85A-85D75267A4C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3051A06-2ED6-4C78-A076-A4D941B21B6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32FE06-3657-454D-925B-4F26549B477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C84D22-C09B-4C93-A768-300449B85D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C628E3-9B61-4814-A6C9-36D7B5FA55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0D3A12-25EF-4C6F-811F-47B0867F50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77A446-6840-43F1-AA30-8988D099C4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6EFEE27-9839-4D2B-8FB3-1BA616A89A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BC1080-7A2A-4113-AA8F-28CE4CD9F3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CF346B-6055-4367-A593-378D05F726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aac2bdd174483a" /><Relationship Type="http://schemas.openxmlformats.org/officeDocument/2006/relationships/slideLayout" Target="/ppt/slideLayouts/slideLayout1.xml" Id="Rb144791f10eb4191" /><Relationship Type="http://schemas.openxmlformats.org/officeDocument/2006/relationships/slideLayout" Target="/ppt/slideLayouts/slideLayout2.xml" Id="Rc89ba98ff9644b93" /><Relationship Type="http://schemas.openxmlformats.org/officeDocument/2006/relationships/slideLayout" Target="/ppt/slideLayouts/slideLayout3.xml" Id="Rd20de10b207a4187" /><Relationship Type="http://schemas.openxmlformats.org/officeDocument/2006/relationships/slideLayout" Target="/ppt/slideLayouts/slideLayout4.xml" Id="R61a58f37c7164981" /><Relationship Type="http://schemas.openxmlformats.org/officeDocument/2006/relationships/slideLayout" Target="/ppt/slideLayouts/slideLayout5.xml" Id="R2521166bd57245f7" /><Relationship Type="http://schemas.openxmlformats.org/officeDocument/2006/relationships/slideLayout" Target="/ppt/slideLayouts/slideLayout6.xml" Id="R0e2f44e2efa84c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44791f10eb4191"/>
    <p:sldLayoutId xmlns:r="http://schemas.openxmlformats.org/officeDocument/2006/relationships" id="2147483650" r:id="Rc89ba98ff9644b93"/>
    <p:sldLayoutId xmlns:r="http://schemas.openxmlformats.org/officeDocument/2006/relationships" id="2147483651" r:id="Rd20de10b207a4187"/>
    <p:sldLayoutId xmlns:r="http://schemas.openxmlformats.org/officeDocument/2006/relationships" id="2147483652" r:id="R61a58f37c7164981"/>
    <p:sldLayoutId xmlns:r="http://schemas.openxmlformats.org/officeDocument/2006/relationships" id="2147483653" r:id="R2521166bd57245f7"/>
    <p:sldLayoutId xmlns:r="http://schemas.openxmlformats.org/officeDocument/2006/relationships" id="2147483654" r:id="R0e2f44e2efa84c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c414b03d2f94e6b" /><Relationship Type="http://schemas.openxmlformats.org/officeDocument/2006/relationships/notesSlide" Target="/ppt/notesSlides/notesSlide1.xml" Id="R146f94ae6a004c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ae11c12b014d70" /><Relationship Type="http://schemas.openxmlformats.org/officeDocument/2006/relationships/notesSlide" Target="/ppt/notesSlides/notesSlide2.xml" Id="R9a8869aedc7941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7f18c18d0d74653" /><Relationship Type="http://schemas.openxmlformats.org/officeDocument/2006/relationships/image" Target="/ppt/media/image.jpeg" Id="R1def401a5e324907" /><Relationship Type="http://schemas.openxmlformats.org/officeDocument/2006/relationships/notesSlide" Target="/ppt/notesSlides/notesSlide3.xml" Id="R455bd52eaba540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c96b6c686c440ee" /><Relationship Type="http://schemas.openxmlformats.org/officeDocument/2006/relationships/image" Target="/ppt/media/image2.jpeg" Id="Ra3548635ecdf4c04" /><Relationship Type="http://schemas.openxmlformats.org/officeDocument/2006/relationships/notesSlide" Target="/ppt/notesSlides/notesSlide4.xml" Id="R505d888ae66047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720be00c014917" /><Relationship Type="http://schemas.openxmlformats.org/officeDocument/2006/relationships/image" Target="/ppt/media/image3.jpeg" Id="R6e85d3f3d1954d68" /><Relationship Type="http://schemas.openxmlformats.org/officeDocument/2006/relationships/notesSlide" Target="/ppt/notesSlides/notesSlide5.xml" Id="R0ea965ac349f42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e359ac0d22d4b62" /><Relationship Type="http://schemas.openxmlformats.org/officeDocument/2006/relationships/notesSlide" Target="/ppt/notesSlides/notesSlide6.xml" Id="R31d379afb2b340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06b5f1b79c34709" /><Relationship Type="http://schemas.openxmlformats.org/officeDocument/2006/relationships/image" Target="/ppt/media/image4.jpeg" Id="R3e37bc4753ca46c3" /><Relationship Type="http://schemas.openxmlformats.org/officeDocument/2006/relationships/notesSlide" Target="/ppt/notesSlides/notesSlide7.xml" Id="Rfd484888d2514d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1fd0acfcdb2425a" /><Relationship Type="http://schemas.openxmlformats.org/officeDocument/2006/relationships/notesSlide" Target="/ppt/notesSlides/notesSlide8.xml" Id="Rd4a35a68449645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8df368a0f6448b" /><Relationship Type="http://schemas.openxmlformats.org/officeDocument/2006/relationships/notesSlide" Target="/ppt/notesSlides/notesSlide9.xml" Id="R247c541a807148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7626e5860574c01" /><Relationship Type="http://schemas.openxmlformats.org/officeDocument/2006/relationships/image" Target="/ppt/media/image5.jpeg" Id="R2f753aad05dd47d1" /><Relationship Type="http://schemas.openxmlformats.org/officeDocument/2006/relationships/notesSlide" Target="/ppt/notesSlides/notesSlide10.xml" Id="R4a1281ef37b449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3c08b166854044" /><Relationship Type="http://schemas.openxmlformats.org/officeDocument/2006/relationships/notesSlide" Target="/ppt/notesSlides/notesSlide11.xml" Id="Rfc1a62d0bccf4d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2f8bfec3a0b4211" /><Relationship Type="http://schemas.openxmlformats.org/officeDocument/2006/relationships/notesSlide" Target="/ppt/notesSlides/notesSlide12.xml" Id="Ree04ca6dfe0c4f5e" /></Relationships>
</file>

<file path=ppt/slides/slide1.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CB1EEF-191C-441D-9A9F-1D8995B32F68}"/>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24F7A8D6-2A4D-4DF9-851C-0AFFD50E8402}"/>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100" b="1">
                <a:solidFill>
                  <a:srgbClr val="163B32"/>
                </a:solidFill>
              </a:defRPr>
            </a:defPPr>
            <a:lvl1pPr>
              <a:defRPr sz="5100" b="1">
                <a:solidFill>
                  <a:srgbClr val="163B32"/>
                </a:solidFill>
              </a:defRPr>
            </a:lvl1pPr>
            <a:lvl2pPr>
              <a:defRPr sz="5100" b="1">
                <a:solidFill>
                  <a:srgbClr val="163B32"/>
                </a:solidFill>
              </a:defRPr>
            </a:lvl2pPr>
            <a:lvl3pPr>
              <a:defRPr sz="5100" b="1">
                <a:solidFill>
                  <a:srgbClr val="163B32"/>
                </a:solidFill>
              </a:defRPr>
            </a:lvl3pPr>
            <a:lvl4pPr>
              <a:defRPr sz="5100" b="1">
                <a:solidFill>
                  <a:srgbClr val="163B32"/>
                </a:solidFill>
              </a:defRPr>
            </a:lvl4pPr>
            <a:lvl5pPr>
              <a:defRPr sz="5100" b="1">
                <a:solidFill>
                  <a:srgbClr val="163B32"/>
                </a:solidFill>
              </a:defRPr>
            </a:lvl5pPr>
            <a:lvl6pPr>
              <a:defRPr sz="5100" b="1">
                <a:solidFill>
                  <a:srgbClr val="163B32"/>
                </a:solidFill>
              </a:defRPr>
            </a:lvl6pPr>
            <a:lvl7pPr>
              <a:defRPr sz="5100" b="1">
                <a:solidFill>
                  <a:srgbClr val="163B32"/>
                </a:solidFill>
              </a:defRPr>
            </a:lvl7pPr>
            <a:lvl8pPr>
              <a:defRPr sz="5100" b="1">
                <a:solidFill>
                  <a:srgbClr val="163B32"/>
                </a:solidFill>
              </a:defRPr>
            </a:lvl8pPr>
            <a:lvl9pPr>
              <a:defRPr sz="5100" b="1">
                <a:solidFill>
                  <a:srgbClr val="163B32"/>
                </a:solidFill>
              </a:defRPr>
            </a:lvl9pPr>
          </a:lstStyle>
          <a:p xmlns:a="http://schemas.openxmlformats.org/drawingml/2006/main">
            <a:pPr>
              <a:defRPr sz="5100" b="1">
                <a:solidFill>
                  <a:srgbClr val="163B32"/>
                </a:solidFill>
              </a:defRPr>
            </a:pPr>
            <a:r>
              <a:rPr sz="5100" b="1">
                <a:solidFill>
                  <a:srgbClr val="163B32"/>
                </a:solidFill>
              </a:rPr>
              <a:t>Movement Quest</a:t>
            </a:r>
          </a:p>
        </p:txBody>
      </p:sp>
      <p:sp>
        <p:nvSpPr>
          <p:cNvPr id="3" name="">
            <a:extLst xmlns:a="http://schemas.openxmlformats.org/drawingml/2006/main">
              <a:ext uri="{FF2B5EF4-FFF2-40B4-BE49-F238E27FC236}">
                <a16:creationId xmlns:a16="http://schemas.microsoft.com/office/drawing/2014/main" id="{6938B1AD-DFBE-44CA-9D89-108052C77BC9}"/>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26B5B"/>
                </a:solidFill>
              </a:defRPr>
            </a:defPPr>
            <a:lvl1pPr>
              <a:defRPr sz="2025" b="0">
                <a:solidFill>
                  <a:srgbClr val="426B5B"/>
                </a:solidFill>
              </a:defRPr>
            </a:lvl1pPr>
            <a:lvl2pPr>
              <a:defRPr sz="2025" b="0">
                <a:solidFill>
                  <a:srgbClr val="426B5B"/>
                </a:solidFill>
              </a:defRPr>
            </a:lvl2pPr>
            <a:lvl3pPr>
              <a:defRPr sz="2025" b="0">
                <a:solidFill>
                  <a:srgbClr val="426B5B"/>
                </a:solidFill>
              </a:defRPr>
            </a:lvl3pPr>
            <a:lvl4pPr>
              <a:defRPr sz="2025" b="0">
                <a:solidFill>
                  <a:srgbClr val="426B5B"/>
                </a:solidFill>
              </a:defRPr>
            </a:lvl4pPr>
            <a:lvl5pPr>
              <a:defRPr sz="2025" b="0">
                <a:solidFill>
                  <a:srgbClr val="426B5B"/>
                </a:solidFill>
              </a:defRPr>
            </a:lvl5pPr>
            <a:lvl6pPr>
              <a:defRPr sz="2025" b="0">
                <a:solidFill>
                  <a:srgbClr val="426B5B"/>
                </a:solidFill>
              </a:defRPr>
            </a:lvl6pPr>
            <a:lvl7pPr>
              <a:defRPr sz="2025" b="0">
                <a:solidFill>
                  <a:srgbClr val="426B5B"/>
                </a:solidFill>
              </a:defRPr>
            </a:lvl7pPr>
            <a:lvl8pPr>
              <a:defRPr sz="2025" b="0">
                <a:solidFill>
                  <a:srgbClr val="426B5B"/>
                </a:solidFill>
              </a:defRPr>
            </a:lvl8pPr>
            <a:lvl9pPr>
              <a:defRPr sz="2025" b="0">
                <a:solidFill>
                  <a:srgbClr val="426B5B"/>
                </a:solidFill>
              </a:defRPr>
            </a:lvl9pPr>
          </a:lstStyle>
          <a:p xmlns:a="http://schemas.openxmlformats.org/drawingml/2006/main">
            <a:pPr>
              <a:defRPr sz="2025" b="0">
                <a:solidFill>
                  <a:srgbClr val="426B5B"/>
                </a:solidFill>
              </a:defRPr>
            </a:pPr>
            <a:r>
              <a:rPr sz="2025" b="0">
                <a:solidFill>
                  <a:srgbClr val="426B5B"/>
                </a:solidFill>
              </a:rPr>
              <a:t>A little movement. Your own pace.</a:t>
            </a:r>
          </a:p>
        </p:txBody>
      </p:sp>
      <p:sp>
        <p:nvSpPr>
          <p:cNvPr id="4" name="">
            <a:extLst xmlns:a="http://schemas.openxmlformats.org/drawingml/2006/main">
              <a:ext uri="{FF2B5EF4-FFF2-40B4-BE49-F238E27FC236}">
                <a16:creationId xmlns:a16="http://schemas.microsoft.com/office/drawing/2014/main" id="{010ADB19-C1D6-4FCB-8FC6-2302A52AA2BC}"/>
              </a:ext>
            </a:extLst>
          </p:cNvPr>
          <p:cNvSpPr>
            <a:spLocks xmlns:a="http://schemas.openxmlformats.org/drawingml/2006/main" noGrp="1"/>
          </p:cNvSpPr>
          <p:nvPr/>
        </p:nvSpPr>
        <p:spPr>
          <a:xfrm xmlns:a="http://schemas.openxmlformats.org/drawingml/2006/main">
            <a:off x="685800" y="33337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CODING MASTER</a:t>
            </a:r>
          </a:p>
        </p:txBody>
      </p:sp>
      <p:sp>
        <p:nvSpPr>
          <p:cNvPr id="5" name="">
            <a:extLst xmlns:a="http://schemas.openxmlformats.org/drawingml/2006/main">
              <a:ext uri="{FF2B5EF4-FFF2-40B4-BE49-F238E27FC236}">
                <a16:creationId xmlns:a16="http://schemas.microsoft.com/office/drawing/2014/main" id="{4BE6CBA0-F754-481A-84D0-CB0B24DE4A5E}"/>
              </a:ext>
            </a:extLst>
          </p:cNvPr>
          <p:cNvSpPr>
            <a:spLocks xmlns:a="http://schemas.openxmlformats.org/drawingml/2006/main" noGrp="1"/>
          </p:cNvSpPr>
          <p:nvPr/>
        </p:nvSpPr>
        <p:spPr>
          <a:xfrm xmlns:a="http://schemas.openxmlformats.org/drawingml/2006/main">
            <a:off x="685800" y="41719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Mohammed Afeefuddin  /  Muhammad Samad Khan</a:t>
            </a:r>
          </a:p>
        </p:txBody>
      </p:sp>
      <p:sp>
        <p:nvSpPr>
          <p:cNvPr id="6" name="">
            <a:extLst xmlns:a="http://schemas.openxmlformats.org/drawingml/2006/main">
              <a:ext uri="{FF2B5EF4-FFF2-40B4-BE49-F238E27FC236}">
                <a16:creationId xmlns:a16="http://schemas.microsoft.com/office/drawing/2014/main" id="{5089AC3E-98C5-4885-9542-45E3233F288C}"/>
              </a:ext>
            </a:extLst>
          </p:cNvPr>
          <p:cNvSpPr>
            <a:spLocks xmlns:a="http://schemas.openxmlformats.org/drawingml/2006/main" noGrp="1"/>
          </p:cNvSpPr>
          <p:nvPr/>
        </p:nvSpPr>
        <p:spPr>
          <a:xfrm xmlns:a="http://schemas.openxmlformats.org/drawingml/2006/main">
            <a:off x="685800" y="50101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CSC4360 MAD  /  Undergraduate</a:t>
            </a:r>
          </a:p>
        </p:txBody>
      </p:sp>
      <p:sp>
        <p:nvSpPr>
          <p:cNvPr id="7" name="">
            <a:extLst xmlns:a="http://schemas.openxmlformats.org/drawingml/2006/main">
              <a:ext uri="{FF2B5EF4-FFF2-40B4-BE49-F238E27FC236}">
                <a16:creationId xmlns:a16="http://schemas.microsoft.com/office/drawing/2014/main" id="{25D43D31-8D0A-4910-ACFF-45549C641C81}"/>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01 / 12</a:t>
            </a:r>
          </a:p>
        </p:txBody>
      </p:sp>
    </p:spTree>
    <p:extLst>
      <p:ext uri="{BB962C8B-B14F-4D97-AF65-F5344CB8AC3E}">
        <p14:creationId xmlns:p14="http://schemas.microsoft.com/office/powerpoint/2010/main" val="1169465736"/>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BE1D50-FD18-4853-89A3-117433115EE7}"/>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B37B174A-25E5-46F9-A69D-47DD1F5F8820}"/>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63B32"/>
                </a:solidFill>
              </a:defRPr>
            </a:defPPr>
            <a:lvl1pPr>
              <a:defRPr sz="3375" b="1">
                <a:solidFill>
                  <a:srgbClr val="163B32"/>
                </a:solidFill>
              </a:defRPr>
            </a:lvl1pPr>
            <a:lvl2pPr>
              <a:defRPr sz="3375" b="1">
                <a:solidFill>
                  <a:srgbClr val="163B32"/>
                </a:solidFill>
              </a:defRPr>
            </a:lvl2pPr>
            <a:lvl3pPr>
              <a:defRPr sz="3375" b="1">
                <a:solidFill>
                  <a:srgbClr val="163B32"/>
                </a:solidFill>
              </a:defRPr>
            </a:lvl3pPr>
            <a:lvl4pPr>
              <a:defRPr sz="3375" b="1">
                <a:solidFill>
                  <a:srgbClr val="163B32"/>
                </a:solidFill>
              </a:defRPr>
            </a:lvl4pPr>
            <a:lvl5pPr>
              <a:defRPr sz="3375" b="1">
                <a:solidFill>
                  <a:srgbClr val="163B32"/>
                </a:solidFill>
              </a:defRPr>
            </a:lvl5pPr>
            <a:lvl6pPr>
              <a:defRPr sz="3375" b="1">
                <a:solidFill>
                  <a:srgbClr val="163B32"/>
                </a:solidFill>
              </a:defRPr>
            </a:lvl6pPr>
            <a:lvl7pPr>
              <a:defRPr sz="3375" b="1">
                <a:solidFill>
                  <a:srgbClr val="163B32"/>
                </a:solidFill>
              </a:defRPr>
            </a:lvl7pPr>
            <a:lvl8pPr>
              <a:defRPr sz="3375" b="1">
                <a:solidFill>
                  <a:srgbClr val="163B32"/>
                </a:solidFill>
              </a:defRPr>
            </a:lvl8pPr>
            <a:lvl9pPr>
              <a:defRPr sz="3375" b="1">
                <a:solidFill>
                  <a:srgbClr val="163B32"/>
                </a:solidFill>
              </a:defRPr>
            </a:lvl9pPr>
          </a:lstStyle>
          <a:p xmlns:a="http://schemas.openxmlformats.org/drawingml/2006/main">
            <a:pPr>
              <a:defRPr sz="3375" b="1">
                <a:solidFill>
                  <a:srgbClr val="163B32"/>
                </a:solidFill>
              </a:defRPr>
            </a:pPr>
            <a:r>
              <a:rPr sz="3375" b="1">
                <a:solidFill>
                  <a:srgbClr val="163B32"/>
                </a:solidFill>
              </a:rPr>
              <a:t>Scope and original roles</a:t>
            </a:r>
          </a:p>
        </p:txBody>
      </p:sp>
      <p:sp>
        <p:nvSpPr>
          <p:cNvPr id="3" name="">
            <a:extLst xmlns:a="http://schemas.openxmlformats.org/drawingml/2006/main">
              <a:ext uri="{FF2B5EF4-FFF2-40B4-BE49-F238E27FC236}">
                <a16:creationId xmlns:a16="http://schemas.microsoft.com/office/drawing/2014/main" id="{9F6A8F59-FD34-4391-AFE5-2B17276772FF}"/>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26B5B"/>
                </a:solidFill>
              </a:defRPr>
            </a:defPPr>
            <a:lvl1pPr>
              <a:defRPr sz="2025" b="0">
                <a:solidFill>
                  <a:srgbClr val="426B5B"/>
                </a:solidFill>
              </a:defRPr>
            </a:lvl1pPr>
            <a:lvl2pPr>
              <a:defRPr sz="2025" b="0">
                <a:solidFill>
                  <a:srgbClr val="426B5B"/>
                </a:solidFill>
              </a:defRPr>
            </a:lvl2pPr>
            <a:lvl3pPr>
              <a:defRPr sz="2025" b="0">
                <a:solidFill>
                  <a:srgbClr val="426B5B"/>
                </a:solidFill>
              </a:defRPr>
            </a:lvl3pPr>
            <a:lvl4pPr>
              <a:defRPr sz="2025" b="0">
                <a:solidFill>
                  <a:srgbClr val="426B5B"/>
                </a:solidFill>
              </a:defRPr>
            </a:lvl4pPr>
            <a:lvl5pPr>
              <a:defRPr sz="2025" b="0">
                <a:solidFill>
                  <a:srgbClr val="426B5B"/>
                </a:solidFill>
              </a:defRPr>
            </a:lvl5pPr>
            <a:lvl6pPr>
              <a:defRPr sz="2025" b="0">
                <a:solidFill>
                  <a:srgbClr val="426B5B"/>
                </a:solidFill>
              </a:defRPr>
            </a:lvl6pPr>
            <a:lvl7pPr>
              <a:defRPr sz="2025" b="0">
                <a:solidFill>
                  <a:srgbClr val="426B5B"/>
                </a:solidFill>
              </a:defRPr>
            </a:lvl7pPr>
            <a:lvl8pPr>
              <a:defRPr sz="2025" b="0">
                <a:solidFill>
                  <a:srgbClr val="426B5B"/>
                </a:solidFill>
              </a:defRPr>
            </a:lvl8pPr>
            <a:lvl9pPr>
              <a:defRPr sz="2025" b="0">
                <a:solidFill>
                  <a:srgbClr val="426B5B"/>
                </a:solidFill>
              </a:defRPr>
            </a:lvl9pPr>
          </a:lstStyle>
          <a:p xmlns:a="http://schemas.openxmlformats.org/drawingml/2006/main">
            <a:pPr>
              <a:defRPr sz="2025" b="0">
                <a:solidFill>
                  <a:srgbClr val="426B5B"/>
                </a:solidFill>
              </a:defRPr>
            </a:pPr>
            <a:r>
              <a:rPr sz="2025" b="0">
                <a:solidFill>
                  <a:srgbClr val="426B5B"/>
                </a:solidFill>
              </a:rPr>
              <a:t>Five screen roles. Two local entities.</a:t>
            </a:r>
          </a:p>
        </p:txBody>
      </p:sp>
      <p:sp>
        <p:nvSpPr>
          <p:cNvPr id="4" name="">
            <a:extLst xmlns:a="http://schemas.openxmlformats.org/drawingml/2006/main">
              <a:ext uri="{FF2B5EF4-FFF2-40B4-BE49-F238E27FC236}">
                <a16:creationId xmlns:a16="http://schemas.microsoft.com/office/drawing/2014/main" id="{1A6AE39D-5CA7-4BEE-B92D-72B10A9EF58E}"/>
              </a:ext>
            </a:extLst>
          </p:cNvPr>
          <p:cNvSpPr>
            <a:spLocks xmlns:a="http://schemas.openxmlformats.org/drawingml/2006/main" noGrp="1"/>
          </p:cNvSpPr>
          <p:nvPr/>
        </p:nvSpPr>
        <p:spPr>
          <a:xfrm xmlns:a="http://schemas.openxmlformats.org/drawingml/2006/main">
            <a:off x="685800" y="33337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Afeef: UI, forms, navigation, settings and demo</a:t>
            </a:r>
          </a:p>
        </p:txBody>
      </p:sp>
      <p:sp>
        <p:nvSpPr>
          <p:cNvPr id="5" name="">
            <a:extLst xmlns:a="http://schemas.openxmlformats.org/drawingml/2006/main">
              <a:ext uri="{FF2B5EF4-FFF2-40B4-BE49-F238E27FC236}">
                <a16:creationId xmlns:a16="http://schemas.microsoft.com/office/drawing/2014/main" id="{B205A998-285C-42FE-82F4-76D882E035F9}"/>
              </a:ext>
            </a:extLst>
          </p:cNvPr>
          <p:cNvSpPr>
            <a:spLocks xmlns:a="http://schemas.openxmlformats.org/drawingml/2006/main" noGrp="1"/>
          </p:cNvSpPr>
          <p:nvPr/>
        </p:nvSpPr>
        <p:spPr>
          <a:xfrm xmlns:a="http://schemas.openxmlformats.org/drawingml/2006/main">
            <a:off x="685800" y="41719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Samad: SQLite, activity integrity, helper, tests and release</a:t>
            </a:r>
          </a:p>
        </p:txBody>
      </p:sp>
      <p:sp>
        <p:nvSpPr>
          <p:cNvPr id="6" name="">
            <a:extLst xmlns:a="http://schemas.openxmlformats.org/drawingml/2006/main">
              <a:ext uri="{FF2B5EF4-FFF2-40B4-BE49-F238E27FC236}">
                <a16:creationId xmlns:a16="http://schemas.microsoft.com/office/drawing/2014/main" id="{75D3DEB3-20BA-439E-BBCE-494A28E0A033}"/>
              </a:ext>
            </a:extLst>
          </p:cNvPr>
          <p:cNvSpPr>
            <a:spLocks xmlns:a="http://schemas.openxmlformats.org/drawingml/2006/main" noGrp="1"/>
          </p:cNvSpPr>
          <p:nvPr/>
        </p:nvSpPr>
        <p:spPr>
          <a:xfrm xmlns:a="http://schemas.openxmlformats.org/drawingml/2006/main">
            <a:off x="685800" y="50101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Shared review keeps the app and evidence consistent</a:t>
            </a:r>
          </a:p>
        </p:txBody>
      </p:sp>
      <p:sp>
        <p:nvSpPr>
          <p:cNvPr id="7" name="">
            <a:extLst xmlns:a="http://schemas.openxmlformats.org/drawingml/2006/main">
              <a:ext uri="{FF2B5EF4-FFF2-40B4-BE49-F238E27FC236}">
                <a16:creationId xmlns:a16="http://schemas.microsoft.com/office/drawing/2014/main" id="{4B530F78-9F25-4DFF-ADAB-F9D92159BB0F}"/>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02 / 12</a:t>
            </a:r>
          </a:p>
        </p:txBody>
      </p:sp>
    </p:spTree>
    <p:extLst>
      <p:ext uri="{BB962C8B-B14F-4D97-AF65-F5344CB8AC3E}">
        <p14:creationId xmlns:p14="http://schemas.microsoft.com/office/powerpoint/2010/main" val="465855115"/>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B85A6B-93FE-46AC-95E6-12D119169078}"/>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6FF06C69-6F1B-42C4-8AB6-FC45F5AF8E28}"/>
              </a:ext>
            </a:extLst>
          </p:cNvPr>
          <p:cNvSpPr>
            <a:spLocks xmlns:a="http://schemas.openxmlformats.org/drawingml/2006/main" noGrp="1"/>
          </p:cNvSpPr>
          <p:nvPr/>
        </p:nvSpPr>
        <p:spPr>
          <a:xfrm xmlns:a="http://schemas.openxmlformats.org/drawingml/2006/main">
            <a:off x="647700" y="990600"/>
            <a:ext cx="74771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63B32"/>
                </a:solidFill>
              </a:defRPr>
            </a:defPPr>
            <a:lvl1pPr>
              <a:defRPr sz="3375" b="1">
                <a:solidFill>
                  <a:srgbClr val="163B32"/>
                </a:solidFill>
              </a:defRPr>
            </a:lvl1pPr>
            <a:lvl2pPr>
              <a:defRPr sz="3375" b="1">
                <a:solidFill>
                  <a:srgbClr val="163B32"/>
                </a:solidFill>
              </a:defRPr>
            </a:lvl2pPr>
            <a:lvl3pPr>
              <a:defRPr sz="3375" b="1">
                <a:solidFill>
                  <a:srgbClr val="163B32"/>
                </a:solidFill>
              </a:defRPr>
            </a:lvl3pPr>
            <a:lvl4pPr>
              <a:defRPr sz="3375" b="1">
                <a:solidFill>
                  <a:srgbClr val="163B32"/>
                </a:solidFill>
              </a:defRPr>
            </a:lvl4pPr>
            <a:lvl5pPr>
              <a:defRPr sz="3375" b="1">
                <a:solidFill>
                  <a:srgbClr val="163B32"/>
                </a:solidFill>
              </a:defRPr>
            </a:lvl5pPr>
            <a:lvl6pPr>
              <a:defRPr sz="3375" b="1">
                <a:solidFill>
                  <a:srgbClr val="163B32"/>
                </a:solidFill>
              </a:defRPr>
            </a:lvl6pPr>
            <a:lvl7pPr>
              <a:defRPr sz="3375" b="1">
                <a:solidFill>
                  <a:srgbClr val="163B32"/>
                </a:solidFill>
              </a:defRPr>
            </a:lvl7pPr>
            <a:lvl8pPr>
              <a:defRPr sz="3375" b="1">
                <a:solidFill>
                  <a:srgbClr val="163B32"/>
                </a:solidFill>
              </a:defRPr>
            </a:lvl8pPr>
            <a:lvl9pPr>
              <a:defRPr sz="3375" b="1">
                <a:solidFill>
                  <a:srgbClr val="163B32"/>
                </a:solidFill>
              </a:defRPr>
            </a:lvl9pPr>
          </a:lstStyle>
          <a:p xmlns:a="http://schemas.openxmlformats.org/drawingml/2006/main">
            <a:pPr>
              <a:defRPr sz="3375" b="1">
                <a:solidFill>
                  <a:srgbClr val="163B32"/>
                </a:solidFill>
              </a:defRPr>
            </a:pPr>
            <a:r>
              <a:rPr sz="3375" b="1">
                <a:solidFill>
                  <a:srgbClr val="163B32"/>
                </a:solidFill>
              </a:rPr>
              <a:t>Catalog and plan editor</a:t>
            </a:r>
          </a:p>
        </p:txBody>
      </p:sp>
      <p:sp>
        <p:nvSpPr>
          <p:cNvPr id="3" name="">
            <a:extLst xmlns:a="http://schemas.openxmlformats.org/drawingml/2006/main">
              <a:ext uri="{FF2B5EF4-FFF2-40B4-BE49-F238E27FC236}">
                <a16:creationId xmlns:a16="http://schemas.microsoft.com/office/drawing/2014/main" id="{D8F9D107-8B1C-49D6-89A8-9987E7C34C87}"/>
              </a:ext>
            </a:extLst>
          </p:cNvPr>
          <p:cNvSpPr>
            <a:spLocks xmlns:a="http://schemas.openxmlformats.org/drawingml/2006/main" noGrp="1"/>
          </p:cNvSpPr>
          <p:nvPr/>
        </p:nvSpPr>
        <p:spPr>
          <a:xfrm xmlns:a="http://schemas.openxmlformats.org/drawingml/2006/main">
            <a:off x="685800" y="2228850"/>
            <a:ext cx="704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26B5B"/>
                </a:solidFill>
              </a:defRPr>
            </a:defPPr>
            <a:lvl1pPr>
              <a:defRPr sz="2025" b="0">
                <a:solidFill>
                  <a:srgbClr val="426B5B"/>
                </a:solidFill>
              </a:defRPr>
            </a:lvl1pPr>
            <a:lvl2pPr>
              <a:defRPr sz="2025" b="0">
                <a:solidFill>
                  <a:srgbClr val="426B5B"/>
                </a:solidFill>
              </a:defRPr>
            </a:lvl2pPr>
            <a:lvl3pPr>
              <a:defRPr sz="2025" b="0">
                <a:solidFill>
                  <a:srgbClr val="426B5B"/>
                </a:solidFill>
              </a:defRPr>
            </a:lvl3pPr>
            <a:lvl4pPr>
              <a:defRPr sz="2025" b="0">
                <a:solidFill>
                  <a:srgbClr val="426B5B"/>
                </a:solidFill>
              </a:defRPr>
            </a:lvl4pPr>
            <a:lvl5pPr>
              <a:defRPr sz="2025" b="0">
                <a:solidFill>
                  <a:srgbClr val="426B5B"/>
                </a:solidFill>
              </a:defRPr>
            </a:lvl5pPr>
            <a:lvl6pPr>
              <a:defRPr sz="2025" b="0">
                <a:solidFill>
                  <a:srgbClr val="426B5B"/>
                </a:solidFill>
              </a:defRPr>
            </a:lvl6pPr>
            <a:lvl7pPr>
              <a:defRPr sz="2025" b="0">
                <a:solidFill>
                  <a:srgbClr val="426B5B"/>
                </a:solidFill>
              </a:defRPr>
            </a:lvl7pPr>
            <a:lvl8pPr>
              <a:defRPr sz="2025" b="0">
                <a:solidFill>
                  <a:srgbClr val="426B5B"/>
                </a:solidFill>
              </a:defRPr>
            </a:lvl8pPr>
            <a:lvl9pPr>
              <a:defRPr sz="2025" b="0">
                <a:solidFill>
                  <a:srgbClr val="426B5B"/>
                </a:solidFill>
              </a:defRPr>
            </a:lvl9pPr>
          </a:lstStyle>
          <a:p xmlns:a="http://schemas.openxmlformats.org/drawingml/2006/main">
            <a:pPr>
              <a:defRPr sz="2025" b="0">
                <a:solidFill>
                  <a:srgbClr val="426B5B"/>
                </a:solidFill>
              </a:defRPr>
            </a:pPr>
            <a:r>
              <a:rPr sz="2025" b="0">
                <a:solidFill>
                  <a:srgbClr val="426B5B"/>
                </a:solidFill>
              </a:rPr>
              <a:t>I1 · I2</a:t>
            </a:r>
          </a:p>
        </p:txBody>
      </p:sp>
      <p:sp>
        <p:nvSpPr>
          <p:cNvPr id="4" name="">
            <a:extLst xmlns:a="http://schemas.openxmlformats.org/drawingml/2006/main">
              <a:ext uri="{FF2B5EF4-FFF2-40B4-BE49-F238E27FC236}">
                <a16:creationId xmlns:a16="http://schemas.microsoft.com/office/drawing/2014/main" id="{F7581640-447F-4265-AB49-79B5B1741D75}"/>
              </a:ext>
            </a:extLst>
          </p:cNvPr>
          <p:cNvSpPr>
            <a:spLocks xmlns:a="http://schemas.openxmlformats.org/drawingml/2006/main" noGrp="1"/>
          </p:cNvSpPr>
          <p:nvPr/>
        </p:nvSpPr>
        <p:spPr>
          <a:xfrm xmlns:a="http://schemas.openxmlformats.org/drawingml/2006/main">
            <a:off x="685800" y="33337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Afeef: catalog and form walkthrough</a:t>
            </a:r>
          </a:p>
        </p:txBody>
      </p:sp>
      <p:sp>
        <p:nvSpPr>
          <p:cNvPr id="5" name="">
            <a:extLst xmlns:a="http://schemas.openxmlformats.org/drawingml/2006/main">
              <a:ext uri="{FF2B5EF4-FFF2-40B4-BE49-F238E27FC236}">
                <a16:creationId xmlns:a16="http://schemas.microsoft.com/office/drawing/2014/main" id="{5B67AB66-1136-48C8-B573-535BA20504EA}"/>
              </a:ext>
            </a:extLst>
          </p:cNvPr>
          <p:cNvSpPr>
            <a:spLocks xmlns:a="http://schemas.openxmlformats.org/drawingml/2006/main" noGrp="1"/>
          </p:cNvSpPr>
          <p:nvPr/>
        </p:nvSpPr>
        <p:spPr>
          <a:xfrm xmlns:a="http://schemas.openxmlformats.org/drawingml/2006/main">
            <a:off x="685800" y="41719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Captured input: -5 target sets</a:t>
            </a:r>
          </a:p>
        </p:txBody>
      </p:sp>
      <p:sp>
        <p:nvSpPr>
          <p:cNvPr id="6" name="">
            <a:extLst xmlns:a="http://schemas.openxmlformats.org/drawingml/2006/main">
              <a:ext uri="{FF2B5EF4-FFF2-40B4-BE49-F238E27FC236}">
                <a16:creationId xmlns:a16="http://schemas.microsoft.com/office/drawing/2014/main" id="{471FD70B-6F40-48B0-8AA6-09838429353E}"/>
              </a:ext>
            </a:extLst>
          </p:cNvPr>
          <p:cNvSpPr>
            <a:spLocks xmlns:a="http://schemas.openxmlformats.org/drawingml/2006/main" noGrp="1"/>
          </p:cNvSpPr>
          <p:nvPr/>
        </p:nvSpPr>
        <p:spPr>
          <a:xfrm xmlns:a="http://schemas.openxmlformats.org/drawingml/2006/main">
            <a:off x="685800" y="50101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The form shows the allowed range: 1 to 10</a:t>
            </a:r>
          </a:p>
        </p:txBody>
      </p:sp>
      <p:pic>
        <p:nvPicPr>
          <p:cNvPr id="7" name="">
            <a:extLst xmlns:a="http://schemas.openxmlformats.org/drawingml/2006/main">
              <a:ext uri="{FF2B5EF4-FFF2-40B4-BE49-F238E27FC236}">
                <a16:creationId xmlns:a16="http://schemas.microsoft.com/office/drawing/2014/main" id="{6908B465-32DD-4DC1-8E27-95E18D2C52F4}"/>
              </a:ext>
            </a:extLst>
          </p:cNvPr>
          <p:cNvPicPr>
            <a:picLocks xmlns:a="http://schemas.openxmlformats.org/drawingml/2006/main" noChangeAspect="1"/>
          </p:cNvPicPr>
          <p:nvPr/>
        </p:nvPicPr>
        <p:blipFill>
          <a:blip xmlns:r="http://schemas.openxmlformats.org/officeDocument/2006/relationships" xmlns:a="http://schemas.openxmlformats.org/drawingml/2006/main" r:embed="R1def401a5e324907"/>
          <a:stretch xmlns:a="http://schemas.openxmlformats.org/drawingml/2006/main"/>
        </p:blipFill>
        <p:spPr>
          <a:xfrm xmlns:a="http://schemas.openxmlformats.org/drawingml/2006/main">
            <a:off x="8837651" y="800100"/>
            <a:ext cx="2441498" cy="5286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459D93C-9DFF-4CA3-BBC8-D7F20745C5F3}"/>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03 / 12</a:t>
            </a:r>
          </a:p>
        </p:txBody>
      </p:sp>
    </p:spTree>
    <p:extLst>
      <p:ext uri="{BB962C8B-B14F-4D97-AF65-F5344CB8AC3E}">
        <p14:creationId xmlns:p14="http://schemas.microsoft.com/office/powerpoint/2010/main" val="52255162"/>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CEFF23-69AE-42F9-AEAD-E4C734FDC117}"/>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72D8F473-3190-488E-BDDA-BF44E31728F9}"/>
              </a:ext>
            </a:extLst>
          </p:cNvPr>
          <p:cNvSpPr>
            <a:spLocks xmlns:a="http://schemas.openxmlformats.org/drawingml/2006/main" noGrp="1"/>
          </p:cNvSpPr>
          <p:nvPr/>
        </p:nvSpPr>
        <p:spPr>
          <a:xfrm xmlns:a="http://schemas.openxmlformats.org/drawingml/2006/main">
            <a:off x="647700" y="990600"/>
            <a:ext cx="74771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63B32"/>
                </a:solidFill>
              </a:defRPr>
            </a:defPPr>
            <a:lvl1pPr>
              <a:defRPr sz="3375" b="1">
                <a:solidFill>
                  <a:srgbClr val="163B32"/>
                </a:solidFill>
              </a:defRPr>
            </a:lvl1pPr>
            <a:lvl2pPr>
              <a:defRPr sz="3375" b="1">
                <a:solidFill>
                  <a:srgbClr val="163B32"/>
                </a:solidFill>
              </a:defRPr>
            </a:lvl2pPr>
            <a:lvl3pPr>
              <a:defRPr sz="3375" b="1">
                <a:solidFill>
                  <a:srgbClr val="163B32"/>
                </a:solidFill>
              </a:defRPr>
            </a:lvl3pPr>
            <a:lvl4pPr>
              <a:defRPr sz="3375" b="1">
                <a:solidFill>
                  <a:srgbClr val="163B32"/>
                </a:solidFill>
              </a:defRPr>
            </a:lvl4pPr>
            <a:lvl5pPr>
              <a:defRPr sz="3375" b="1">
                <a:solidFill>
                  <a:srgbClr val="163B32"/>
                </a:solidFill>
              </a:defRPr>
            </a:lvl5pPr>
            <a:lvl6pPr>
              <a:defRPr sz="3375" b="1">
                <a:solidFill>
                  <a:srgbClr val="163B32"/>
                </a:solidFill>
              </a:defRPr>
            </a:lvl6pPr>
            <a:lvl7pPr>
              <a:defRPr sz="3375" b="1">
                <a:solidFill>
                  <a:srgbClr val="163B32"/>
                </a:solidFill>
              </a:defRPr>
            </a:lvl7pPr>
            <a:lvl8pPr>
              <a:defRPr sz="3375" b="1">
                <a:solidFill>
                  <a:srgbClr val="163B32"/>
                </a:solidFill>
              </a:defRPr>
            </a:lvl8pPr>
            <a:lvl9pPr>
              <a:defRPr sz="3375" b="1">
                <a:solidFill>
                  <a:srgbClr val="163B32"/>
                </a:solidFill>
              </a:defRPr>
            </a:lvl9pPr>
          </a:lstStyle>
          <a:p xmlns:a="http://schemas.openxmlformats.org/drawingml/2006/main">
            <a:pPr>
              <a:defRPr sz="3375" b="1">
                <a:solidFill>
                  <a:srgbClr val="163B32"/>
                </a:solidFill>
              </a:defRPr>
            </a:pPr>
            <a:r>
              <a:rPr sz="3375" b="1">
                <a:solidFill>
                  <a:srgbClr val="163B32"/>
                </a:solidFill>
              </a:rPr>
              <a:t>Saved workout progress</a:t>
            </a:r>
          </a:p>
        </p:txBody>
      </p:sp>
      <p:sp>
        <p:nvSpPr>
          <p:cNvPr id="3" name="">
            <a:extLst xmlns:a="http://schemas.openxmlformats.org/drawingml/2006/main">
              <a:ext uri="{FF2B5EF4-FFF2-40B4-BE49-F238E27FC236}">
                <a16:creationId xmlns:a16="http://schemas.microsoft.com/office/drawing/2014/main" id="{10BD0860-78DA-405C-A80A-D44FF621E983}"/>
              </a:ext>
            </a:extLst>
          </p:cNvPr>
          <p:cNvSpPr>
            <a:spLocks xmlns:a="http://schemas.openxmlformats.org/drawingml/2006/main" noGrp="1"/>
          </p:cNvSpPr>
          <p:nvPr/>
        </p:nvSpPr>
        <p:spPr>
          <a:xfrm xmlns:a="http://schemas.openxmlformats.org/drawingml/2006/main">
            <a:off x="685800" y="2228850"/>
            <a:ext cx="704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26B5B"/>
                </a:solidFill>
              </a:defRPr>
            </a:defPPr>
            <a:lvl1pPr>
              <a:defRPr sz="2025" b="0">
                <a:solidFill>
                  <a:srgbClr val="426B5B"/>
                </a:solidFill>
              </a:defRPr>
            </a:lvl1pPr>
            <a:lvl2pPr>
              <a:defRPr sz="2025" b="0">
                <a:solidFill>
                  <a:srgbClr val="426B5B"/>
                </a:solidFill>
              </a:defRPr>
            </a:lvl2pPr>
            <a:lvl3pPr>
              <a:defRPr sz="2025" b="0">
                <a:solidFill>
                  <a:srgbClr val="426B5B"/>
                </a:solidFill>
              </a:defRPr>
            </a:lvl3pPr>
            <a:lvl4pPr>
              <a:defRPr sz="2025" b="0">
                <a:solidFill>
                  <a:srgbClr val="426B5B"/>
                </a:solidFill>
              </a:defRPr>
            </a:lvl4pPr>
            <a:lvl5pPr>
              <a:defRPr sz="2025" b="0">
                <a:solidFill>
                  <a:srgbClr val="426B5B"/>
                </a:solidFill>
              </a:defRPr>
            </a:lvl5pPr>
            <a:lvl6pPr>
              <a:defRPr sz="2025" b="0">
                <a:solidFill>
                  <a:srgbClr val="426B5B"/>
                </a:solidFill>
              </a:defRPr>
            </a:lvl6pPr>
            <a:lvl7pPr>
              <a:defRPr sz="2025" b="0">
                <a:solidFill>
                  <a:srgbClr val="426B5B"/>
                </a:solidFill>
              </a:defRPr>
            </a:lvl7pPr>
            <a:lvl8pPr>
              <a:defRPr sz="2025" b="0">
                <a:solidFill>
                  <a:srgbClr val="426B5B"/>
                </a:solidFill>
              </a:defRPr>
            </a:lvl8pPr>
            <a:lvl9pPr>
              <a:defRPr sz="2025" b="0">
                <a:solidFill>
                  <a:srgbClr val="426B5B"/>
                </a:solidFill>
              </a:defRPr>
            </a:lvl9pPr>
          </a:lstStyle>
          <a:p xmlns:a="http://schemas.openxmlformats.org/drawingml/2006/main">
            <a:pPr>
              <a:defRPr sz="2025" b="0">
                <a:solidFill>
                  <a:srgbClr val="426B5B"/>
                </a:solidFill>
              </a:defRPr>
            </a:pPr>
            <a:r>
              <a:rPr sz="2025" b="0">
                <a:solidFill>
                  <a:srgbClr val="426B5B"/>
                </a:solidFill>
              </a:rPr>
              <a:t>D1</a:t>
            </a:r>
          </a:p>
        </p:txBody>
      </p:sp>
      <p:sp>
        <p:nvSpPr>
          <p:cNvPr id="4" name="">
            <a:extLst xmlns:a="http://schemas.openxmlformats.org/drawingml/2006/main">
              <a:ext uri="{FF2B5EF4-FFF2-40B4-BE49-F238E27FC236}">
                <a16:creationId xmlns:a16="http://schemas.microsoft.com/office/drawing/2014/main" id="{B889DEAC-310E-4E20-8F04-06082D8ECF03}"/>
              </a:ext>
            </a:extLst>
          </p:cNvPr>
          <p:cNvSpPr>
            <a:spLocks xmlns:a="http://schemas.openxmlformats.org/drawingml/2006/main" noGrp="1"/>
          </p:cNvSpPr>
          <p:nvPr/>
        </p:nvSpPr>
        <p:spPr>
          <a:xfrm xmlns:a="http://schemas.openxmlformats.org/drawingml/2006/main">
            <a:off x="685800" y="33337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Samad: saved-session walkthrough</a:t>
            </a:r>
          </a:p>
        </p:txBody>
      </p:sp>
      <p:sp>
        <p:nvSpPr>
          <p:cNvPr id="5" name="">
            <a:extLst xmlns:a="http://schemas.openxmlformats.org/drawingml/2006/main">
              <a:ext uri="{FF2B5EF4-FFF2-40B4-BE49-F238E27FC236}">
                <a16:creationId xmlns:a16="http://schemas.microsoft.com/office/drawing/2014/main" id="{01079F4A-6AF0-48BE-9341-5C7FB0B3745B}"/>
              </a:ext>
            </a:extLst>
          </p:cNvPr>
          <p:cNvSpPr>
            <a:spLocks xmlns:a="http://schemas.openxmlformats.org/drawingml/2006/main" noGrp="1"/>
          </p:cNvSpPr>
          <p:nvPr/>
        </p:nvSpPr>
        <p:spPr>
          <a:xfrm xmlns:a="http://schemas.openxmlformats.org/drawingml/2006/main">
            <a:off x="685800" y="41719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Captured actual reps: 3, 8 and 10</a:t>
            </a:r>
          </a:p>
        </p:txBody>
      </p:sp>
      <p:sp>
        <p:nvSpPr>
          <p:cNvPr id="6" name="">
            <a:extLst xmlns:a="http://schemas.openxmlformats.org/drawingml/2006/main">
              <a:ext uri="{FF2B5EF4-FFF2-40B4-BE49-F238E27FC236}">
                <a16:creationId xmlns:a16="http://schemas.microsoft.com/office/drawing/2014/main" id="{D4CF7432-8C3A-41C6-92A6-CF3E9E6E845E}"/>
              </a:ext>
            </a:extLst>
          </p:cNvPr>
          <p:cNvSpPr>
            <a:spLocks xmlns:a="http://schemas.openxmlformats.org/drawingml/2006/main" noGrp="1"/>
          </p:cNvSpPr>
          <p:nvPr/>
        </p:nvSpPr>
        <p:spPr>
          <a:xfrm xmlns:a="http://schemas.openxmlformats.org/drawingml/2006/main">
            <a:off x="685800" y="50101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Three sets saved; Finish remains available</a:t>
            </a:r>
          </a:p>
        </p:txBody>
      </p:sp>
      <p:pic>
        <p:nvPicPr>
          <p:cNvPr id="7" name="">
            <a:extLst xmlns:a="http://schemas.openxmlformats.org/drawingml/2006/main">
              <a:ext uri="{FF2B5EF4-FFF2-40B4-BE49-F238E27FC236}">
                <a16:creationId xmlns:a16="http://schemas.microsoft.com/office/drawing/2014/main" id="{32BC8993-D31A-4F90-B9FC-33391F25BD9C}"/>
              </a:ext>
            </a:extLst>
          </p:cNvPr>
          <p:cNvPicPr>
            <a:picLocks xmlns:a="http://schemas.openxmlformats.org/drawingml/2006/main" noChangeAspect="1"/>
          </p:cNvPicPr>
          <p:nvPr/>
        </p:nvPicPr>
        <p:blipFill>
          <a:blip xmlns:r="http://schemas.openxmlformats.org/officeDocument/2006/relationships" xmlns:a="http://schemas.openxmlformats.org/drawingml/2006/main" r:embed="Ra3548635ecdf4c04"/>
          <a:stretch xmlns:a="http://schemas.openxmlformats.org/drawingml/2006/main"/>
        </p:blipFill>
        <p:spPr>
          <a:xfrm xmlns:a="http://schemas.openxmlformats.org/drawingml/2006/main">
            <a:off x="8843079" y="800100"/>
            <a:ext cx="2430643" cy="5286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1616755-80C9-4937-9204-3580FFAF65D2}"/>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04 / 12</a:t>
            </a:r>
          </a:p>
        </p:txBody>
      </p:sp>
    </p:spTree>
    <p:extLst>
      <p:ext uri="{BB962C8B-B14F-4D97-AF65-F5344CB8AC3E}">
        <p14:creationId xmlns:p14="http://schemas.microsoft.com/office/powerpoint/2010/main" val="1455575963"/>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CE88B9-FAD3-42E2-97E8-39903A634DE1}"/>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522EBCA3-2BC5-4D72-8E8B-711E8B11E3A9}"/>
              </a:ext>
            </a:extLst>
          </p:cNvPr>
          <p:cNvSpPr>
            <a:spLocks xmlns:a="http://schemas.openxmlformats.org/drawingml/2006/main" noGrp="1"/>
          </p:cNvSpPr>
          <p:nvPr/>
        </p:nvSpPr>
        <p:spPr>
          <a:xfrm xmlns:a="http://schemas.openxmlformats.org/drawingml/2006/main">
            <a:off x="647700" y="990600"/>
            <a:ext cx="74771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63B32"/>
                </a:solidFill>
              </a:defRPr>
            </a:defPPr>
            <a:lvl1pPr>
              <a:defRPr sz="3375" b="1">
                <a:solidFill>
                  <a:srgbClr val="163B32"/>
                </a:solidFill>
              </a:defRPr>
            </a:lvl1pPr>
            <a:lvl2pPr>
              <a:defRPr sz="3375" b="1">
                <a:solidFill>
                  <a:srgbClr val="163B32"/>
                </a:solidFill>
              </a:defRPr>
            </a:lvl2pPr>
            <a:lvl3pPr>
              <a:defRPr sz="3375" b="1">
                <a:solidFill>
                  <a:srgbClr val="163B32"/>
                </a:solidFill>
              </a:defRPr>
            </a:lvl3pPr>
            <a:lvl4pPr>
              <a:defRPr sz="3375" b="1">
                <a:solidFill>
                  <a:srgbClr val="163B32"/>
                </a:solidFill>
              </a:defRPr>
            </a:lvl4pPr>
            <a:lvl5pPr>
              <a:defRPr sz="3375" b="1">
                <a:solidFill>
                  <a:srgbClr val="163B32"/>
                </a:solidFill>
              </a:defRPr>
            </a:lvl5pPr>
            <a:lvl6pPr>
              <a:defRPr sz="3375" b="1">
                <a:solidFill>
                  <a:srgbClr val="163B32"/>
                </a:solidFill>
              </a:defRPr>
            </a:lvl6pPr>
            <a:lvl7pPr>
              <a:defRPr sz="3375" b="1">
                <a:solidFill>
                  <a:srgbClr val="163B32"/>
                </a:solidFill>
              </a:defRPr>
            </a:lvl7pPr>
            <a:lvl8pPr>
              <a:defRPr sz="3375" b="1">
                <a:solidFill>
                  <a:srgbClr val="163B32"/>
                </a:solidFill>
              </a:defRPr>
            </a:lvl8pPr>
            <a:lvl9pPr>
              <a:defRPr sz="3375" b="1">
                <a:solidFill>
                  <a:srgbClr val="163B32"/>
                </a:solidFill>
              </a:defRPr>
            </a:lvl9pPr>
          </a:lstStyle>
          <a:p xmlns:a="http://schemas.openxmlformats.org/drawingml/2006/main">
            <a:pPr>
              <a:defRPr sz="3375" b="1">
                <a:solidFill>
                  <a:srgbClr val="163B32"/>
                </a:solidFill>
              </a:defRPr>
            </a:pPr>
            <a:r>
              <a:rPr sz="3375" b="1">
                <a:solidFill>
                  <a:srgbClr val="163B32"/>
                </a:solidFill>
              </a:rPr>
              <a:t>History and offline settings</a:t>
            </a:r>
          </a:p>
        </p:txBody>
      </p:sp>
      <p:sp>
        <p:nvSpPr>
          <p:cNvPr id="3" name="">
            <a:extLst xmlns:a="http://schemas.openxmlformats.org/drawingml/2006/main">
              <a:ext uri="{FF2B5EF4-FFF2-40B4-BE49-F238E27FC236}">
                <a16:creationId xmlns:a16="http://schemas.microsoft.com/office/drawing/2014/main" id="{6E34D36B-DEA0-4948-904E-9B0E80CEF2A0}"/>
              </a:ext>
            </a:extLst>
          </p:cNvPr>
          <p:cNvSpPr>
            <a:spLocks xmlns:a="http://schemas.openxmlformats.org/drawingml/2006/main" noGrp="1"/>
          </p:cNvSpPr>
          <p:nvPr/>
        </p:nvSpPr>
        <p:spPr>
          <a:xfrm xmlns:a="http://schemas.openxmlformats.org/drawingml/2006/main">
            <a:off x="685800" y="2228850"/>
            <a:ext cx="704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26B5B"/>
                </a:solidFill>
              </a:defRPr>
            </a:defPPr>
            <a:lvl1pPr>
              <a:defRPr sz="2025" b="0">
                <a:solidFill>
                  <a:srgbClr val="426B5B"/>
                </a:solidFill>
              </a:defRPr>
            </a:lvl1pPr>
            <a:lvl2pPr>
              <a:defRPr sz="2025" b="0">
                <a:solidFill>
                  <a:srgbClr val="426B5B"/>
                </a:solidFill>
              </a:defRPr>
            </a:lvl2pPr>
            <a:lvl3pPr>
              <a:defRPr sz="2025" b="0">
                <a:solidFill>
                  <a:srgbClr val="426B5B"/>
                </a:solidFill>
              </a:defRPr>
            </a:lvl3pPr>
            <a:lvl4pPr>
              <a:defRPr sz="2025" b="0">
                <a:solidFill>
                  <a:srgbClr val="426B5B"/>
                </a:solidFill>
              </a:defRPr>
            </a:lvl4pPr>
            <a:lvl5pPr>
              <a:defRPr sz="2025" b="0">
                <a:solidFill>
                  <a:srgbClr val="426B5B"/>
                </a:solidFill>
              </a:defRPr>
            </a:lvl5pPr>
            <a:lvl6pPr>
              <a:defRPr sz="2025" b="0">
                <a:solidFill>
                  <a:srgbClr val="426B5B"/>
                </a:solidFill>
              </a:defRPr>
            </a:lvl6pPr>
            <a:lvl7pPr>
              <a:defRPr sz="2025" b="0">
                <a:solidFill>
                  <a:srgbClr val="426B5B"/>
                </a:solidFill>
              </a:defRPr>
            </a:lvl7pPr>
            <a:lvl8pPr>
              <a:defRPr sz="2025" b="0">
                <a:solidFill>
                  <a:srgbClr val="426B5B"/>
                </a:solidFill>
              </a:defRPr>
            </a:lvl8pPr>
            <a:lvl9pPr>
              <a:defRPr sz="2025" b="0">
                <a:solidFill>
                  <a:srgbClr val="426B5B"/>
                </a:solidFill>
              </a:defRPr>
            </a:lvl9pPr>
          </a:lstStyle>
          <a:p xmlns:a="http://schemas.openxmlformats.org/drawingml/2006/main">
            <a:pPr>
              <a:defRPr sz="2025" b="0">
                <a:solidFill>
                  <a:srgbClr val="426B5B"/>
                </a:solidFill>
              </a:defRPr>
            </a:pPr>
            <a:r>
              <a:rPr sz="2025" b="0">
                <a:solidFill>
                  <a:srgbClr val="426B5B"/>
                </a:solidFill>
              </a:rPr>
              <a:t>D1 · D2</a:t>
            </a:r>
          </a:p>
        </p:txBody>
      </p:sp>
      <p:sp>
        <p:nvSpPr>
          <p:cNvPr id="4" name="">
            <a:extLst xmlns:a="http://schemas.openxmlformats.org/drawingml/2006/main">
              <a:ext uri="{FF2B5EF4-FFF2-40B4-BE49-F238E27FC236}">
                <a16:creationId xmlns:a16="http://schemas.microsoft.com/office/drawing/2014/main" id="{57E91F58-48F8-4D63-B5D2-675D4CD17772}"/>
              </a:ext>
            </a:extLst>
          </p:cNvPr>
          <p:cNvSpPr>
            <a:spLocks xmlns:a="http://schemas.openxmlformats.org/drawingml/2006/main" noGrp="1"/>
          </p:cNvSpPr>
          <p:nvPr/>
        </p:nvSpPr>
        <p:spPr>
          <a:xfrm xmlns:a="http://schemas.openxmlformats.org/drawingml/2006/main">
            <a:off x="685800" y="33337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History capture shows one completed session</a:t>
            </a:r>
          </a:p>
        </p:txBody>
      </p:sp>
      <p:sp>
        <p:nvSpPr>
          <p:cNvPr id="5" name="">
            <a:extLst xmlns:a="http://schemas.openxmlformats.org/drawingml/2006/main">
              <a:ext uri="{FF2B5EF4-FFF2-40B4-BE49-F238E27FC236}">
                <a16:creationId xmlns:a16="http://schemas.microsoft.com/office/drawing/2014/main" id="{DB82F929-CB71-4677-B1A5-F3F8B961084D}"/>
              </a:ext>
            </a:extLst>
          </p:cNvPr>
          <p:cNvSpPr>
            <a:spLocks xmlns:a="http://schemas.openxmlformats.org/drawingml/2006/main" noGrp="1"/>
          </p:cNvSpPr>
          <p:nvPr/>
        </p:nvSpPr>
        <p:spPr>
          <a:xfrm xmlns:a="http://schemas.openxmlformats.org/drawingml/2006/main">
            <a:off x="685800" y="41719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Delete asks for confirmation</a:t>
            </a:r>
          </a:p>
        </p:txBody>
      </p:sp>
      <p:sp>
        <p:nvSpPr>
          <p:cNvPr id="6" name="">
            <a:extLst xmlns:a="http://schemas.openxmlformats.org/drawingml/2006/main">
              <a:ext uri="{FF2B5EF4-FFF2-40B4-BE49-F238E27FC236}">
                <a16:creationId xmlns:a16="http://schemas.microsoft.com/office/drawing/2014/main" id="{12C4449A-56C8-4790-9AC6-1E87E048030E}"/>
              </a:ext>
            </a:extLst>
          </p:cNvPr>
          <p:cNvSpPr>
            <a:spLocks xmlns:a="http://schemas.openxmlformats.org/drawingml/2006/main" noGrp="1"/>
          </p:cNvSpPr>
          <p:nvPr/>
        </p:nvSpPr>
        <p:spPr>
          <a:xfrm xmlns:a="http://schemas.openxmlformats.org/drawingml/2006/main">
            <a:off x="685800" y="50101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Offline restart still needs recorded results</a:t>
            </a:r>
          </a:p>
        </p:txBody>
      </p:sp>
      <p:pic>
        <p:nvPicPr>
          <p:cNvPr id="7" name="">
            <a:extLst xmlns:a="http://schemas.openxmlformats.org/drawingml/2006/main">
              <a:ext uri="{FF2B5EF4-FFF2-40B4-BE49-F238E27FC236}">
                <a16:creationId xmlns:a16="http://schemas.microsoft.com/office/drawing/2014/main" id="{48D5B577-BF14-4DC5-8361-EF7C6E2AE320}"/>
              </a:ext>
            </a:extLst>
          </p:cNvPr>
          <p:cNvPicPr>
            <a:picLocks xmlns:a="http://schemas.openxmlformats.org/drawingml/2006/main" noChangeAspect="1"/>
          </p:cNvPicPr>
          <p:nvPr/>
        </p:nvPicPr>
        <p:blipFill>
          <a:blip xmlns:r="http://schemas.openxmlformats.org/officeDocument/2006/relationships" xmlns:a="http://schemas.openxmlformats.org/drawingml/2006/main" r:embed="R6e85d3f3d1954d68"/>
          <a:stretch xmlns:a="http://schemas.openxmlformats.org/drawingml/2006/main"/>
        </p:blipFill>
        <p:spPr>
          <a:xfrm xmlns:a="http://schemas.openxmlformats.org/drawingml/2006/main">
            <a:off x="8804616" y="800100"/>
            <a:ext cx="2507568" cy="5286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891BB04-C8BA-4701-B8DD-B4DDE6F992EC}"/>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05 / 12</a:t>
            </a:r>
          </a:p>
        </p:txBody>
      </p:sp>
    </p:spTree>
    <p:extLst>
      <p:ext uri="{BB962C8B-B14F-4D97-AF65-F5344CB8AC3E}">
        <p14:creationId xmlns:p14="http://schemas.microsoft.com/office/powerpoint/2010/main" val="952904921"/>
      </p:ext>
    </p:extLst>
  </p:cSld>
</p:sld>
</file>

<file path=ppt/slides/slide6.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E1181B-D7D6-4E4B-9363-CB14B9B89F0D}"/>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95AE7A3C-AD09-4656-AC90-7DB35199A22D}"/>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63B32"/>
                </a:solidFill>
              </a:defRPr>
            </a:defPPr>
            <a:lvl1pPr>
              <a:defRPr sz="3375" b="1">
                <a:solidFill>
                  <a:srgbClr val="163B32"/>
                </a:solidFill>
              </a:defRPr>
            </a:lvl1pPr>
            <a:lvl2pPr>
              <a:defRPr sz="3375" b="1">
                <a:solidFill>
                  <a:srgbClr val="163B32"/>
                </a:solidFill>
              </a:defRPr>
            </a:lvl2pPr>
            <a:lvl3pPr>
              <a:defRPr sz="3375" b="1">
                <a:solidFill>
                  <a:srgbClr val="163B32"/>
                </a:solidFill>
              </a:defRPr>
            </a:lvl3pPr>
            <a:lvl4pPr>
              <a:defRPr sz="3375" b="1">
                <a:solidFill>
                  <a:srgbClr val="163B32"/>
                </a:solidFill>
              </a:defRPr>
            </a:lvl4pPr>
            <a:lvl5pPr>
              <a:defRPr sz="3375" b="1">
                <a:solidFill>
                  <a:srgbClr val="163B32"/>
                </a:solidFill>
              </a:defRPr>
            </a:lvl5pPr>
            <a:lvl6pPr>
              <a:defRPr sz="3375" b="1">
                <a:solidFill>
                  <a:srgbClr val="163B32"/>
                </a:solidFill>
              </a:defRPr>
            </a:lvl6pPr>
            <a:lvl7pPr>
              <a:defRPr sz="3375" b="1">
                <a:solidFill>
                  <a:srgbClr val="163B32"/>
                </a:solidFill>
              </a:defRPr>
            </a:lvl7pPr>
            <a:lvl8pPr>
              <a:defRPr sz="3375" b="1">
                <a:solidFill>
                  <a:srgbClr val="163B32"/>
                </a:solidFill>
              </a:defRPr>
            </a:lvl8pPr>
            <a:lvl9pPr>
              <a:defRPr sz="3375" b="1">
                <a:solidFill>
                  <a:srgbClr val="163B32"/>
                </a:solidFill>
              </a:defRPr>
            </a:lvl9pPr>
          </a:lstStyle>
          <a:p xmlns:a="http://schemas.openxmlformats.org/drawingml/2006/main">
            <a:pPr>
              <a:defRPr sz="3375" b="1">
                <a:solidFill>
                  <a:srgbClr val="163B32"/>
                </a:solidFill>
              </a:defRPr>
            </a:pPr>
            <a:r>
              <a:rPr sz="3375" b="1">
                <a:solidFill>
                  <a:srgbClr val="163B32"/>
                </a:solidFill>
              </a:rPr>
              <a:t>State and lifecycle</a:t>
            </a:r>
          </a:p>
        </p:txBody>
      </p:sp>
      <p:sp>
        <p:nvSpPr>
          <p:cNvPr id="3" name="">
            <a:extLst xmlns:a="http://schemas.openxmlformats.org/drawingml/2006/main">
              <a:ext uri="{FF2B5EF4-FFF2-40B4-BE49-F238E27FC236}">
                <a16:creationId xmlns:a16="http://schemas.microsoft.com/office/drawing/2014/main" id="{961336E3-D042-4A93-A84E-A61B924F53D9}"/>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26B5B"/>
                </a:solidFill>
              </a:defRPr>
            </a:defPPr>
            <a:lvl1pPr>
              <a:defRPr sz="2025" b="0">
                <a:solidFill>
                  <a:srgbClr val="426B5B"/>
                </a:solidFill>
              </a:defRPr>
            </a:lvl1pPr>
            <a:lvl2pPr>
              <a:defRPr sz="2025" b="0">
                <a:solidFill>
                  <a:srgbClr val="426B5B"/>
                </a:solidFill>
              </a:defRPr>
            </a:lvl2pPr>
            <a:lvl3pPr>
              <a:defRPr sz="2025" b="0">
                <a:solidFill>
                  <a:srgbClr val="426B5B"/>
                </a:solidFill>
              </a:defRPr>
            </a:lvl3pPr>
            <a:lvl4pPr>
              <a:defRPr sz="2025" b="0">
                <a:solidFill>
                  <a:srgbClr val="426B5B"/>
                </a:solidFill>
              </a:defRPr>
            </a:lvl4pPr>
            <a:lvl5pPr>
              <a:defRPr sz="2025" b="0">
                <a:solidFill>
                  <a:srgbClr val="426B5B"/>
                </a:solidFill>
              </a:defRPr>
            </a:lvl5pPr>
            <a:lvl6pPr>
              <a:defRPr sz="2025" b="0">
                <a:solidFill>
                  <a:srgbClr val="426B5B"/>
                </a:solidFill>
              </a:defRPr>
            </a:lvl6pPr>
            <a:lvl7pPr>
              <a:defRPr sz="2025" b="0">
                <a:solidFill>
                  <a:srgbClr val="426B5B"/>
                </a:solidFill>
              </a:defRPr>
            </a:lvl7pPr>
            <a:lvl8pPr>
              <a:defRPr sz="2025" b="0">
                <a:solidFill>
                  <a:srgbClr val="426B5B"/>
                </a:solidFill>
              </a:defRPr>
            </a:lvl8pPr>
            <a:lvl9pPr>
              <a:defRPr sz="2025" b="0">
                <a:solidFill>
                  <a:srgbClr val="426B5B"/>
                </a:solidFill>
              </a:defRPr>
            </a:lvl9pPr>
          </a:lstStyle>
          <a:p xmlns:a="http://schemas.openxmlformats.org/drawingml/2006/main">
            <a:pPr>
              <a:defRPr sz="2025" b="0">
                <a:solidFill>
                  <a:srgbClr val="426B5B"/>
                </a:solidFill>
              </a:defRPr>
            </a:pPr>
            <a:r>
              <a:rPr sz="2025" b="0">
                <a:solidFill>
                  <a:srgbClr val="426B5B"/>
                </a:solidFill>
              </a:rPr>
              <a:t>A1 · A2</a:t>
            </a:r>
          </a:p>
        </p:txBody>
      </p:sp>
      <p:sp>
        <p:nvSpPr>
          <p:cNvPr id="4" name="">
            <a:extLst xmlns:a="http://schemas.openxmlformats.org/drawingml/2006/main">
              <a:ext uri="{FF2B5EF4-FFF2-40B4-BE49-F238E27FC236}">
                <a16:creationId xmlns:a16="http://schemas.microsoft.com/office/drawing/2014/main" id="{E16AB71C-1EDD-49B9-BF13-6B98722EFDB8}"/>
              </a:ext>
            </a:extLst>
          </p:cNvPr>
          <p:cNvSpPr>
            <a:spLocks xmlns:a="http://schemas.openxmlformats.org/drawingml/2006/main" noGrp="1"/>
          </p:cNvSpPr>
          <p:nvPr/>
        </p:nvSpPr>
        <p:spPr>
          <a:xfrm xmlns:a="http://schemas.openxmlformats.org/drawingml/2006/main">
            <a:off x="685800" y="33337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Screens own local input and navigation</a:t>
            </a:r>
          </a:p>
        </p:txBody>
      </p:sp>
      <p:sp>
        <p:nvSpPr>
          <p:cNvPr id="5" name="">
            <a:extLst xmlns:a="http://schemas.openxmlformats.org/drawingml/2006/main">
              <a:ext uri="{FF2B5EF4-FFF2-40B4-BE49-F238E27FC236}">
                <a16:creationId xmlns:a16="http://schemas.microsoft.com/office/drawing/2014/main" id="{D698BBBA-17C9-4EF6-B1D2-6A3C69F3E1A3}"/>
              </a:ext>
            </a:extLst>
          </p:cNvPr>
          <p:cNvSpPr>
            <a:spLocks xmlns:a="http://schemas.openxmlformats.org/drawingml/2006/main" noGrp="1"/>
          </p:cNvSpPr>
          <p:nvPr/>
        </p:nvSpPr>
        <p:spPr>
          <a:xfrm xmlns:a="http://schemas.openxmlformats.org/drawingml/2006/main">
            <a:off x="685800" y="41719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QuestController refreshes shared saved records</a:t>
            </a:r>
          </a:p>
        </p:txBody>
      </p:sp>
      <p:sp>
        <p:nvSpPr>
          <p:cNvPr id="6" name="">
            <a:extLst xmlns:a="http://schemas.openxmlformats.org/drawingml/2006/main">
              <a:ext uri="{FF2B5EF4-FFF2-40B4-BE49-F238E27FC236}">
                <a16:creationId xmlns:a16="http://schemas.microsoft.com/office/drawing/2014/main" id="{E5FD1BC5-6C6C-4D75-8520-49273AF98D54}"/>
              </a:ext>
            </a:extLst>
          </p:cNvPr>
          <p:cNvSpPr>
            <a:spLocks xmlns:a="http://schemas.openxmlformats.org/drawingml/2006/main" noGrp="1"/>
          </p:cNvSpPr>
          <p:nvPr/>
        </p:nvSpPr>
        <p:spPr>
          <a:xfrm xmlns:a="http://schemas.openxmlformats.org/drawingml/2006/main">
            <a:off x="685800" y="50101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Repository owns SQL and transactions</a:t>
            </a:r>
          </a:p>
        </p:txBody>
      </p:sp>
      <p:sp>
        <p:nvSpPr>
          <p:cNvPr id="7" name="">
            <a:extLst xmlns:a="http://schemas.openxmlformats.org/drawingml/2006/main">
              <a:ext uri="{FF2B5EF4-FFF2-40B4-BE49-F238E27FC236}">
                <a16:creationId xmlns:a16="http://schemas.microsoft.com/office/drawing/2014/main" id="{47D7FB8F-8DEF-43F7-98A8-1DD22698B92E}"/>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06 / 12</a:t>
            </a:r>
          </a:p>
        </p:txBody>
      </p:sp>
    </p:spTree>
    <p:extLst>
      <p:ext uri="{BB962C8B-B14F-4D97-AF65-F5344CB8AC3E}">
        <p14:creationId xmlns:p14="http://schemas.microsoft.com/office/powerpoint/2010/main" val="119002834"/>
      </p:ext>
    </p:extLst>
  </p:cSld>
</p:sld>
</file>

<file path=ppt/slides/slide7.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ADB85D-3C10-4AEE-B1E7-23180123E75A}"/>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6B42439F-B296-4778-BA41-E5D46E056468}"/>
              </a:ext>
            </a:extLst>
          </p:cNvPr>
          <p:cNvSpPr>
            <a:spLocks xmlns:a="http://schemas.openxmlformats.org/drawingml/2006/main" noGrp="1"/>
          </p:cNvSpPr>
          <p:nvPr/>
        </p:nvSpPr>
        <p:spPr>
          <a:xfrm xmlns:a="http://schemas.openxmlformats.org/drawingml/2006/main">
            <a:off x="647700" y="990600"/>
            <a:ext cx="74771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63B32"/>
                </a:solidFill>
              </a:defRPr>
            </a:defPPr>
            <a:lvl1pPr>
              <a:defRPr sz="3375" b="1">
                <a:solidFill>
                  <a:srgbClr val="163B32"/>
                </a:solidFill>
              </a:defRPr>
            </a:lvl1pPr>
            <a:lvl2pPr>
              <a:defRPr sz="3375" b="1">
                <a:solidFill>
                  <a:srgbClr val="163B32"/>
                </a:solidFill>
              </a:defRPr>
            </a:lvl2pPr>
            <a:lvl3pPr>
              <a:defRPr sz="3375" b="1">
                <a:solidFill>
                  <a:srgbClr val="163B32"/>
                </a:solidFill>
              </a:defRPr>
            </a:lvl3pPr>
            <a:lvl4pPr>
              <a:defRPr sz="3375" b="1">
                <a:solidFill>
                  <a:srgbClr val="163B32"/>
                </a:solidFill>
              </a:defRPr>
            </a:lvl4pPr>
            <a:lvl5pPr>
              <a:defRPr sz="3375" b="1">
                <a:solidFill>
                  <a:srgbClr val="163B32"/>
                </a:solidFill>
              </a:defRPr>
            </a:lvl5pPr>
            <a:lvl6pPr>
              <a:defRPr sz="3375" b="1">
                <a:solidFill>
                  <a:srgbClr val="163B32"/>
                </a:solidFill>
              </a:defRPr>
            </a:lvl6pPr>
            <a:lvl7pPr>
              <a:defRPr sz="3375" b="1">
                <a:solidFill>
                  <a:srgbClr val="163B32"/>
                </a:solidFill>
              </a:defRPr>
            </a:lvl7pPr>
            <a:lvl8pPr>
              <a:defRPr sz="3375" b="1">
                <a:solidFill>
                  <a:srgbClr val="163B32"/>
                </a:solidFill>
              </a:defRPr>
            </a:lvl8pPr>
            <a:lvl9pPr>
              <a:defRPr sz="3375" b="1">
                <a:solidFill>
                  <a:srgbClr val="163B32"/>
                </a:solidFill>
              </a:defRPr>
            </a:lvl9pPr>
          </a:lstStyle>
          <a:p xmlns:a="http://schemas.openxmlformats.org/drawingml/2006/main">
            <a:pPr>
              <a:defRPr sz="3375" b="1">
                <a:solidFill>
                  <a:srgbClr val="163B32"/>
                </a:solidFill>
              </a:defRPr>
            </a:pPr>
            <a:r>
              <a:rPr sz="3375" b="1">
                <a:solidFill>
                  <a:srgbClr val="163B32"/>
                </a:solidFill>
              </a:rPr>
              <a:t>Explainable local helper</a:t>
            </a:r>
          </a:p>
        </p:txBody>
      </p:sp>
      <p:sp>
        <p:nvSpPr>
          <p:cNvPr id="3" name="">
            <a:extLst xmlns:a="http://schemas.openxmlformats.org/drawingml/2006/main">
              <a:ext uri="{FF2B5EF4-FFF2-40B4-BE49-F238E27FC236}">
                <a16:creationId xmlns:a16="http://schemas.microsoft.com/office/drawing/2014/main" id="{01E2989E-60C1-430E-AC15-6B86368C1668}"/>
              </a:ext>
            </a:extLst>
          </p:cNvPr>
          <p:cNvSpPr>
            <a:spLocks xmlns:a="http://schemas.openxmlformats.org/drawingml/2006/main" noGrp="1"/>
          </p:cNvSpPr>
          <p:nvPr/>
        </p:nvSpPr>
        <p:spPr>
          <a:xfrm xmlns:a="http://schemas.openxmlformats.org/drawingml/2006/main">
            <a:off x="685800" y="2228850"/>
            <a:ext cx="704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26B5B"/>
                </a:solidFill>
              </a:defRPr>
            </a:defPPr>
            <a:lvl1pPr>
              <a:defRPr sz="2025" b="0">
                <a:solidFill>
                  <a:srgbClr val="426B5B"/>
                </a:solidFill>
              </a:defRPr>
            </a:lvl1pPr>
            <a:lvl2pPr>
              <a:defRPr sz="2025" b="0">
                <a:solidFill>
                  <a:srgbClr val="426B5B"/>
                </a:solidFill>
              </a:defRPr>
            </a:lvl2pPr>
            <a:lvl3pPr>
              <a:defRPr sz="2025" b="0">
                <a:solidFill>
                  <a:srgbClr val="426B5B"/>
                </a:solidFill>
              </a:defRPr>
            </a:lvl3pPr>
            <a:lvl4pPr>
              <a:defRPr sz="2025" b="0">
                <a:solidFill>
                  <a:srgbClr val="426B5B"/>
                </a:solidFill>
              </a:defRPr>
            </a:lvl4pPr>
            <a:lvl5pPr>
              <a:defRPr sz="2025" b="0">
                <a:solidFill>
                  <a:srgbClr val="426B5B"/>
                </a:solidFill>
              </a:defRPr>
            </a:lvl5pPr>
            <a:lvl6pPr>
              <a:defRPr sz="2025" b="0">
                <a:solidFill>
                  <a:srgbClr val="426B5B"/>
                </a:solidFill>
              </a:defRPr>
            </a:lvl6pPr>
            <a:lvl7pPr>
              <a:defRPr sz="2025" b="0">
                <a:solidFill>
                  <a:srgbClr val="426B5B"/>
                </a:solidFill>
              </a:defRPr>
            </a:lvl7pPr>
            <a:lvl8pPr>
              <a:defRPr sz="2025" b="0">
                <a:solidFill>
                  <a:srgbClr val="426B5B"/>
                </a:solidFill>
              </a:defRPr>
            </a:lvl8pPr>
            <a:lvl9pPr>
              <a:defRPr sz="2025" b="0">
                <a:solidFill>
                  <a:srgbClr val="426B5B"/>
                </a:solidFill>
              </a:defRPr>
            </a:lvl9pPr>
          </a:lstStyle>
          <a:p xmlns:a="http://schemas.openxmlformats.org/drawingml/2006/main">
            <a:pPr>
              <a:defRPr sz="2025" b="0">
                <a:solidFill>
                  <a:srgbClr val="426B5B"/>
                </a:solidFill>
              </a:defRPr>
            </a:pPr>
            <a:r>
              <a:rPr sz="2025" b="0">
                <a:solidFill>
                  <a:srgbClr val="426B5B"/>
                </a:solidFill>
              </a:rPr>
              <a:t>R4</a:t>
            </a:r>
          </a:p>
        </p:txBody>
      </p:sp>
      <p:sp>
        <p:nvSpPr>
          <p:cNvPr id="4" name="">
            <a:extLst xmlns:a="http://schemas.openxmlformats.org/drawingml/2006/main">
              <a:ext uri="{FF2B5EF4-FFF2-40B4-BE49-F238E27FC236}">
                <a16:creationId xmlns:a16="http://schemas.microsoft.com/office/drawing/2014/main" id="{B92569B5-419A-4646-9333-E6AE2F2AEDE8}"/>
              </a:ext>
            </a:extLst>
          </p:cNvPr>
          <p:cNvSpPr>
            <a:spLocks xmlns:a="http://schemas.openxmlformats.org/drawingml/2006/main" noGrp="1"/>
          </p:cNvSpPr>
          <p:nvPr/>
        </p:nvSpPr>
        <p:spPr>
          <a:xfrm xmlns:a="http://schemas.openxmlformats.org/drawingml/2006/main">
            <a:off x="685800" y="33337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Equipment match and recent history guide ranking</a:t>
            </a:r>
          </a:p>
        </p:txBody>
      </p:sp>
      <p:sp>
        <p:nvSpPr>
          <p:cNvPr id="5" name="">
            <a:extLst xmlns:a="http://schemas.openxmlformats.org/drawingml/2006/main">
              <a:ext uri="{FF2B5EF4-FFF2-40B4-BE49-F238E27FC236}">
                <a16:creationId xmlns:a16="http://schemas.microsoft.com/office/drawing/2014/main" id="{E105B787-3E2E-46EE-BB29-20B38AC143D4}"/>
              </a:ext>
            </a:extLst>
          </p:cNvPr>
          <p:cNvSpPr>
            <a:spLocks xmlns:a="http://schemas.openxmlformats.org/drawingml/2006/main" noGrp="1"/>
          </p:cNvSpPr>
          <p:nvPr/>
        </p:nvSpPr>
        <p:spPr>
          <a:xfrm xmlns:a="http://schemas.openxmlformats.org/drawingml/2006/main">
            <a:off x="685800" y="41719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The card explains its suggestion</a:t>
            </a:r>
          </a:p>
        </p:txBody>
      </p:sp>
      <p:sp>
        <p:nvSpPr>
          <p:cNvPr id="6" name="">
            <a:extLst xmlns:a="http://schemas.openxmlformats.org/drawingml/2006/main">
              <a:ext uri="{FF2B5EF4-FFF2-40B4-BE49-F238E27FC236}">
                <a16:creationId xmlns:a16="http://schemas.microsoft.com/office/drawing/2014/main" id="{8EB5E641-815F-4563-B139-181C0050EEA8}"/>
              </a:ext>
            </a:extLst>
          </p:cNvPr>
          <p:cNvSpPr>
            <a:spLocks xmlns:a="http://schemas.openxmlformats.org/drawingml/2006/main" noGrp="1"/>
          </p:cNvSpPr>
          <p:nvPr/>
        </p:nvSpPr>
        <p:spPr>
          <a:xfrm xmlns:a="http://schemas.openxmlformats.org/drawingml/2006/main">
            <a:off x="685800" y="50101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Apply and Not now preserve user choice</a:t>
            </a:r>
          </a:p>
        </p:txBody>
      </p:sp>
      <p:pic>
        <p:nvPicPr>
          <p:cNvPr id="7" name="">
            <a:extLst xmlns:a="http://schemas.openxmlformats.org/drawingml/2006/main">
              <a:ext uri="{FF2B5EF4-FFF2-40B4-BE49-F238E27FC236}">
                <a16:creationId xmlns:a16="http://schemas.microsoft.com/office/drawing/2014/main" id="{B84E1A67-9422-40D3-B0DF-C6DC14ED7DF7}"/>
              </a:ext>
            </a:extLst>
          </p:cNvPr>
          <p:cNvPicPr>
            <a:picLocks xmlns:a="http://schemas.openxmlformats.org/drawingml/2006/main" noChangeAspect="1"/>
          </p:cNvPicPr>
          <p:nvPr/>
        </p:nvPicPr>
        <p:blipFill>
          <a:blip xmlns:r="http://schemas.openxmlformats.org/officeDocument/2006/relationships" xmlns:a="http://schemas.openxmlformats.org/drawingml/2006/main" r:embed="R3e37bc4753ca46c3"/>
          <a:stretch xmlns:a="http://schemas.openxmlformats.org/drawingml/2006/main"/>
        </p:blipFill>
        <p:spPr>
          <a:xfrm xmlns:a="http://schemas.openxmlformats.org/drawingml/2006/main">
            <a:off x="8818985" y="800100"/>
            <a:ext cx="2478830" cy="5286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50E1B8B-10C4-44BE-8A19-27F8BBF1E3A6}"/>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07 / 12</a:t>
            </a:r>
          </a:p>
        </p:txBody>
      </p:sp>
    </p:spTree>
    <p:extLst>
      <p:ext uri="{BB962C8B-B14F-4D97-AF65-F5344CB8AC3E}">
        <p14:creationId xmlns:p14="http://schemas.microsoft.com/office/powerpoint/2010/main" val="1765954732"/>
      </p:ext>
    </p:extLst>
  </p:cSld>
</p:sld>
</file>

<file path=ppt/slides/slide8.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5965BF-84CF-41A2-9387-DBE48CC1C677}"/>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00120E50-DF18-42A0-826C-F9CE3E566CE8}"/>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63B32"/>
                </a:solidFill>
              </a:defRPr>
            </a:defPPr>
            <a:lvl1pPr>
              <a:defRPr sz="3375" b="1">
                <a:solidFill>
                  <a:srgbClr val="163B32"/>
                </a:solidFill>
              </a:defRPr>
            </a:lvl1pPr>
            <a:lvl2pPr>
              <a:defRPr sz="3375" b="1">
                <a:solidFill>
                  <a:srgbClr val="163B32"/>
                </a:solidFill>
              </a:defRPr>
            </a:lvl2pPr>
            <a:lvl3pPr>
              <a:defRPr sz="3375" b="1">
                <a:solidFill>
                  <a:srgbClr val="163B32"/>
                </a:solidFill>
              </a:defRPr>
            </a:lvl3pPr>
            <a:lvl4pPr>
              <a:defRPr sz="3375" b="1">
                <a:solidFill>
                  <a:srgbClr val="163B32"/>
                </a:solidFill>
              </a:defRPr>
            </a:lvl4pPr>
            <a:lvl5pPr>
              <a:defRPr sz="3375" b="1">
                <a:solidFill>
                  <a:srgbClr val="163B32"/>
                </a:solidFill>
              </a:defRPr>
            </a:lvl5pPr>
            <a:lvl6pPr>
              <a:defRPr sz="3375" b="1">
                <a:solidFill>
                  <a:srgbClr val="163B32"/>
                </a:solidFill>
              </a:defRPr>
            </a:lvl6pPr>
            <a:lvl7pPr>
              <a:defRPr sz="3375" b="1">
                <a:solidFill>
                  <a:srgbClr val="163B32"/>
                </a:solidFill>
              </a:defRPr>
            </a:lvl7pPr>
            <a:lvl8pPr>
              <a:defRPr sz="3375" b="1">
                <a:solidFill>
                  <a:srgbClr val="163B32"/>
                </a:solidFill>
              </a:defRPr>
            </a:lvl8pPr>
            <a:lvl9pPr>
              <a:defRPr sz="3375" b="1">
                <a:solidFill>
                  <a:srgbClr val="163B32"/>
                </a:solidFill>
              </a:defRPr>
            </a:lvl9pPr>
          </a:lstStyle>
          <a:p xmlns:a="http://schemas.openxmlformats.org/drawingml/2006/main">
            <a:pPr>
              <a:defRPr sz="3375" b="1">
                <a:solidFill>
                  <a:srgbClr val="163B32"/>
                </a:solidFill>
              </a:defRPr>
            </a:pPr>
            <a:r>
              <a:rPr sz="3375" b="1">
                <a:solidFill>
                  <a:srgbClr val="163B32"/>
                </a:solidFill>
              </a:rPr>
              <a:t>Helper evaluation</a:t>
            </a:r>
          </a:p>
        </p:txBody>
      </p:sp>
      <p:sp>
        <p:nvSpPr>
          <p:cNvPr id="3" name="">
            <a:extLst xmlns:a="http://schemas.openxmlformats.org/drawingml/2006/main">
              <a:ext uri="{FF2B5EF4-FFF2-40B4-BE49-F238E27FC236}">
                <a16:creationId xmlns:a16="http://schemas.microsoft.com/office/drawing/2014/main" id="{BC1A1FE5-8751-4C15-A179-940DEA52D436}"/>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26B5B"/>
                </a:solidFill>
              </a:defRPr>
            </a:defPPr>
            <a:lvl1pPr>
              <a:defRPr sz="2025" b="0">
                <a:solidFill>
                  <a:srgbClr val="426B5B"/>
                </a:solidFill>
              </a:defRPr>
            </a:lvl1pPr>
            <a:lvl2pPr>
              <a:defRPr sz="2025" b="0">
                <a:solidFill>
                  <a:srgbClr val="426B5B"/>
                </a:solidFill>
              </a:defRPr>
            </a:lvl2pPr>
            <a:lvl3pPr>
              <a:defRPr sz="2025" b="0">
                <a:solidFill>
                  <a:srgbClr val="426B5B"/>
                </a:solidFill>
              </a:defRPr>
            </a:lvl3pPr>
            <a:lvl4pPr>
              <a:defRPr sz="2025" b="0">
                <a:solidFill>
                  <a:srgbClr val="426B5B"/>
                </a:solidFill>
              </a:defRPr>
            </a:lvl4pPr>
            <a:lvl5pPr>
              <a:defRPr sz="2025" b="0">
                <a:solidFill>
                  <a:srgbClr val="426B5B"/>
                </a:solidFill>
              </a:defRPr>
            </a:lvl5pPr>
            <a:lvl6pPr>
              <a:defRPr sz="2025" b="0">
                <a:solidFill>
                  <a:srgbClr val="426B5B"/>
                </a:solidFill>
              </a:defRPr>
            </a:lvl6pPr>
            <a:lvl7pPr>
              <a:defRPr sz="2025" b="0">
                <a:solidFill>
                  <a:srgbClr val="426B5B"/>
                </a:solidFill>
              </a:defRPr>
            </a:lvl7pPr>
            <a:lvl8pPr>
              <a:defRPr sz="2025" b="0">
                <a:solidFill>
                  <a:srgbClr val="426B5B"/>
                </a:solidFill>
              </a:defRPr>
            </a:lvl8pPr>
            <a:lvl9pPr>
              <a:defRPr sz="2025" b="0">
                <a:solidFill>
                  <a:srgbClr val="426B5B"/>
                </a:solidFill>
              </a:defRPr>
            </a:lvl9pPr>
          </a:lstStyle>
          <a:p xmlns:a="http://schemas.openxmlformats.org/drawingml/2006/main">
            <a:pPr>
              <a:defRPr sz="2025" b="0">
                <a:solidFill>
                  <a:srgbClr val="426B5B"/>
                </a:solidFill>
              </a:defRPr>
            </a:pPr>
            <a:r>
              <a:rPr sz="2025" b="0">
                <a:solidFill>
                  <a:srgbClr val="426B5B"/>
                </a:solidFill>
              </a:rPr>
              <a:t>R4</a:t>
            </a:r>
          </a:p>
        </p:txBody>
      </p:sp>
      <p:sp>
        <p:nvSpPr>
          <p:cNvPr id="4" name="">
            <a:extLst xmlns:a="http://schemas.openxmlformats.org/drawingml/2006/main">
              <a:ext uri="{FF2B5EF4-FFF2-40B4-BE49-F238E27FC236}">
                <a16:creationId xmlns:a16="http://schemas.microsoft.com/office/drawing/2014/main" id="{B67CFEF2-8853-4F42-B04F-4184F81D4843}"/>
              </a:ext>
            </a:extLst>
          </p:cNvPr>
          <p:cNvSpPr>
            <a:spLocks xmlns:a="http://schemas.openxmlformats.org/drawingml/2006/main" noGrp="1"/>
          </p:cNvSpPr>
          <p:nvPr/>
        </p:nvSpPr>
        <p:spPr>
          <a:xfrm xmlns:a="http://schemas.openxmlformats.org/drawingml/2006/main">
            <a:off x="685800" y="33337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10 of 10 expected-output checks passed</a:t>
            </a:r>
          </a:p>
        </p:txBody>
      </p:sp>
      <p:sp>
        <p:nvSpPr>
          <p:cNvPr id="5" name="">
            <a:extLst xmlns:a="http://schemas.openxmlformats.org/drawingml/2006/main">
              <a:ext uri="{FF2B5EF4-FFF2-40B4-BE49-F238E27FC236}">
                <a16:creationId xmlns:a16="http://schemas.microsoft.com/office/drawing/2014/main" id="{06276867-45FF-4C3E-BFA9-CAA2D132EB62}"/>
              </a:ext>
            </a:extLst>
          </p:cNvPr>
          <p:cNvSpPr>
            <a:spLocks xmlns:a="http://schemas.openxmlformats.org/drawingml/2006/main" noGrp="1"/>
          </p:cNvSpPr>
          <p:nvPr/>
        </p:nvSpPr>
        <p:spPr>
          <a:xfrm xmlns:a="http://schemas.openxmlformats.org/drawingml/2006/main">
            <a:off x="685800" y="41719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Synthetic preference labels: helper 6/7, baseline 4/7</a:t>
            </a:r>
          </a:p>
        </p:txBody>
      </p:sp>
      <p:sp>
        <p:nvSpPr>
          <p:cNvPr id="6" name="">
            <a:extLst xmlns:a="http://schemas.openxmlformats.org/drawingml/2006/main">
              <a:ext uri="{FF2B5EF4-FFF2-40B4-BE49-F238E27FC236}">
                <a16:creationId xmlns:a16="http://schemas.microsoft.com/office/drawing/2014/main" id="{C403850E-A396-4FC1-899D-904CFED449A6}"/>
              </a:ext>
            </a:extLst>
          </p:cNvPr>
          <p:cNvSpPr>
            <a:spLocks xmlns:a="http://schemas.openxmlformats.org/drawingml/2006/main" noGrp="1"/>
          </p:cNvSpPr>
          <p:nvPr/>
        </p:nvSpPr>
        <p:spPr>
          <a:xfrm xmlns:a="http://schemas.openxmlformats.org/drawingml/2006/main">
            <a:off x="685800" y="50101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A counterexample exposes a missing preference</a:t>
            </a:r>
          </a:p>
        </p:txBody>
      </p:sp>
      <p:sp>
        <p:nvSpPr>
          <p:cNvPr id="7" name="">
            <a:extLst xmlns:a="http://schemas.openxmlformats.org/drawingml/2006/main">
              <a:ext uri="{FF2B5EF4-FFF2-40B4-BE49-F238E27FC236}">
                <a16:creationId xmlns:a16="http://schemas.microsoft.com/office/drawing/2014/main" id="{C5E18A23-1260-4641-A692-1E04E6A24CCD}"/>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08 / 12</a:t>
            </a:r>
          </a:p>
        </p:txBody>
      </p:sp>
    </p:spTree>
    <p:extLst>
      <p:ext uri="{BB962C8B-B14F-4D97-AF65-F5344CB8AC3E}">
        <p14:creationId xmlns:p14="http://schemas.microsoft.com/office/powerpoint/2010/main" val="404538348"/>
      </p:ext>
    </p:extLst>
  </p:cSld>
</p:sld>
</file>

<file path=ppt/slides/slide9.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372FD3-1B60-4B05-A6E9-DAD676B5466F}"/>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41DF017B-27BC-4592-BFCC-3CE7917733CF}"/>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63B32"/>
                </a:solidFill>
              </a:defRPr>
            </a:defPPr>
            <a:lvl1pPr>
              <a:defRPr sz="3375" b="1">
                <a:solidFill>
                  <a:srgbClr val="163B32"/>
                </a:solidFill>
              </a:defRPr>
            </a:lvl1pPr>
            <a:lvl2pPr>
              <a:defRPr sz="3375" b="1">
                <a:solidFill>
                  <a:srgbClr val="163B32"/>
                </a:solidFill>
              </a:defRPr>
            </a:lvl2pPr>
            <a:lvl3pPr>
              <a:defRPr sz="3375" b="1">
                <a:solidFill>
                  <a:srgbClr val="163B32"/>
                </a:solidFill>
              </a:defRPr>
            </a:lvl3pPr>
            <a:lvl4pPr>
              <a:defRPr sz="3375" b="1">
                <a:solidFill>
                  <a:srgbClr val="163B32"/>
                </a:solidFill>
              </a:defRPr>
            </a:lvl4pPr>
            <a:lvl5pPr>
              <a:defRPr sz="3375" b="1">
                <a:solidFill>
                  <a:srgbClr val="163B32"/>
                </a:solidFill>
              </a:defRPr>
            </a:lvl5pPr>
            <a:lvl6pPr>
              <a:defRPr sz="3375" b="1">
                <a:solidFill>
                  <a:srgbClr val="163B32"/>
                </a:solidFill>
              </a:defRPr>
            </a:lvl6pPr>
            <a:lvl7pPr>
              <a:defRPr sz="3375" b="1">
                <a:solidFill>
                  <a:srgbClr val="163B32"/>
                </a:solidFill>
              </a:defRPr>
            </a:lvl7pPr>
            <a:lvl8pPr>
              <a:defRPr sz="3375" b="1">
                <a:solidFill>
                  <a:srgbClr val="163B32"/>
                </a:solidFill>
              </a:defRPr>
            </a:lvl8pPr>
            <a:lvl9pPr>
              <a:defRPr sz="3375" b="1">
                <a:solidFill>
                  <a:srgbClr val="163B32"/>
                </a:solidFill>
              </a:defRPr>
            </a:lvl9pPr>
          </a:lstStyle>
          <a:p xmlns:a="http://schemas.openxmlformats.org/drawingml/2006/main">
            <a:pPr>
              <a:defRPr sz="3375" b="1">
                <a:solidFill>
                  <a:srgbClr val="163B32"/>
                </a:solidFill>
              </a:defRPr>
            </a:pPr>
            <a:r>
              <a:rPr sz="3375" b="1">
                <a:solidFill>
                  <a:srgbClr val="163B32"/>
                </a:solidFill>
              </a:rPr>
              <a:t>Tests and failure recovery</a:t>
            </a:r>
          </a:p>
        </p:txBody>
      </p:sp>
      <p:sp>
        <p:nvSpPr>
          <p:cNvPr id="3" name="">
            <a:extLst xmlns:a="http://schemas.openxmlformats.org/drawingml/2006/main">
              <a:ext uri="{FF2B5EF4-FFF2-40B4-BE49-F238E27FC236}">
                <a16:creationId xmlns:a16="http://schemas.microsoft.com/office/drawing/2014/main" id="{D929C427-D6CB-4FA2-B2B1-346489F57F1D}"/>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26B5B"/>
                </a:solidFill>
              </a:defRPr>
            </a:defPPr>
            <a:lvl1pPr>
              <a:defRPr sz="2025" b="0">
                <a:solidFill>
                  <a:srgbClr val="426B5B"/>
                </a:solidFill>
              </a:defRPr>
            </a:lvl1pPr>
            <a:lvl2pPr>
              <a:defRPr sz="2025" b="0">
                <a:solidFill>
                  <a:srgbClr val="426B5B"/>
                </a:solidFill>
              </a:defRPr>
            </a:lvl2pPr>
            <a:lvl3pPr>
              <a:defRPr sz="2025" b="0">
                <a:solidFill>
                  <a:srgbClr val="426B5B"/>
                </a:solidFill>
              </a:defRPr>
            </a:lvl3pPr>
            <a:lvl4pPr>
              <a:defRPr sz="2025" b="0">
                <a:solidFill>
                  <a:srgbClr val="426B5B"/>
                </a:solidFill>
              </a:defRPr>
            </a:lvl4pPr>
            <a:lvl5pPr>
              <a:defRPr sz="2025" b="0">
                <a:solidFill>
                  <a:srgbClr val="426B5B"/>
                </a:solidFill>
              </a:defRPr>
            </a:lvl5pPr>
            <a:lvl6pPr>
              <a:defRPr sz="2025" b="0">
                <a:solidFill>
                  <a:srgbClr val="426B5B"/>
                </a:solidFill>
              </a:defRPr>
            </a:lvl6pPr>
            <a:lvl7pPr>
              <a:defRPr sz="2025" b="0">
                <a:solidFill>
                  <a:srgbClr val="426B5B"/>
                </a:solidFill>
              </a:defRPr>
            </a:lvl7pPr>
            <a:lvl8pPr>
              <a:defRPr sz="2025" b="0">
                <a:solidFill>
                  <a:srgbClr val="426B5B"/>
                </a:solidFill>
              </a:defRPr>
            </a:lvl8pPr>
            <a:lvl9pPr>
              <a:defRPr sz="2025" b="0">
                <a:solidFill>
                  <a:srgbClr val="426B5B"/>
                </a:solidFill>
              </a:defRPr>
            </a:lvl9pPr>
          </a:lstStyle>
          <a:p xmlns:a="http://schemas.openxmlformats.org/drawingml/2006/main">
            <a:pPr>
              <a:defRPr sz="2025" b="0">
                <a:solidFill>
                  <a:srgbClr val="426B5B"/>
                </a:solidFill>
              </a:defRPr>
            </a:pPr>
            <a:r>
              <a:rPr sz="2025" b="0">
                <a:solidFill>
                  <a:srgbClr val="426B5B"/>
                </a:solidFill>
              </a:rPr>
              <a:t>T1 · T2</a:t>
            </a:r>
          </a:p>
        </p:txBody>
      </p:sp>
      <p:sp>
        <p:nvSpPr>
          <p:cNvPr id="4" name="">
            <a:extLst xmlns:a="http://schemas.openxmlformats.org/drawingml/2006/main">
              <a:ext uri="{FF2B5EF4-FFF2-40B4-BE49-F238E27FC236}">
                <a16:creationId xmlns:a16="http://schemas.microsoft.com/office/drawing/2014/main" id="{F9438D63-FBA9-4BD1-807F-09CC79E9D7B7}"/>
              </a:ext>
            </a:extLst>
          </p:cNvPr>
          <p:cNvSpPr>
            <a:spLocks xmlns:a="http://schemas.openxmlformats.org/drawingml/2006/main" noGrp="1"/>
          </p:cNvSpPr>
          <p:nvPr/>
        </p:nvSpPr>
        <p:spPr>
          <a:xfrm xmlns:a="http://schemas.openxmlformats.org/drawingml/2006/main">
            <a:off x="685800" y="33337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Earlier host SQLite checks: 9/9 passed</a:t>
            </a:r>
          </a:p>
        </p:txBody>
      </p:sp>
      <p:sp>
        <p:nvSpPr>
          <p:cNvPr id="5" name="">
            <a:extLst xmlns:a="http://schemas.openxmlformats.org/drawingml/2006/main">
              <a:ext uri="{FF2B5EF4-FFF2-40B4-BE49-F238E27FC236}">
                <a16:creationId xmlns:a16="http://schemas.microsoft.com/office/drawing/2014/main" id="{D0A95E21-7884-48A0-965D-8208E819D69C}"/>
              </a:ext>
            </a:extLst>
          </p:cNvPr>
          <p:cNvSpPr>
            <a:spLocks xmlns:a="http://schemas.openxmlformats.org/drawingml/2006/main" noGrp="1"/>
          </p:cNvSpPr>
          <p:nvPr/>
        </p:nvSpPr>
        <p:spPr>
          <a:xfrm xmlns:a="http://schemas.openxmlformats.org/drawingml/2006/main">
            <a:off x="685800" y="41719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Afeef reports APK operation on two devices</a:t>
            </a:r>
          </a:p>
        </p:txBody>
      </p:sp>
      <p:sp>
        <p:nvSpPr>
          <p:cNvPr id="6" name="">
            <a:extLst xmlns:a="http://schemas.openxmlformats.org/drawingml/2006/main">
              <a:ext uri="{FF2B5EF4-FFF2-40B4-BE49-F238E27FC236}">
                <a16:creationId xmlns:a16="http://schemas.microsoft.com/office/drawing/2014/main" id="{5A9486C1-362D-4E37-973A-183531F7910D}"/>
              </a:ext>
            </a:extLst>
          </p:cNvPr>
          <p:cNvSpPr>
            <a:spLocks xmlns:a="http://schemas.openxmlformats.org/drawingml/2006/main" noGrp="1"/>
          </p:cNvSpPr>
          <p:nvPr/>
        </p:nvSpPr>
        <p:spPr>
          <a:xfrm xmlns:a="http://schemas.openxmlformats.org/drawingml/2006/main">
            <a:off x="685800" y="50101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Full Flutter and restart results still needed</a:t>
            </a:r>
          </a:p>
        </p:txBody>
      </p:sp>
      <p:sp>
        <p:nvSpPr>
          <p:cNvPr id="7" name="">
            <a:extLst xmlns:a="http://schemas.openxmlformats.org/drawingml/2006/main">
              <a:ext uri="{FF2B5EF4-FFF2-40B4-BE49-F238E27FC236}">
                <a16:creationId xmlns:a16="http://schemas.microsoft.com/office/drawing/2014/main" id="{EE1CABAB-5834-4975-B08F-FB7FAB9033A5}"/>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09 / 12</a:t>
            </a:r>
          </a:p>
        </p:txBody>
      </p:sp>
    </p:spTree>
    <p:extLst>
      <p:ext uri="{BB962C8B-B14F-4D97-AF65-F5344CB8AC3E}">
        <p14:creationId xmlns:p14="http://schemas.microsoft.com/office/powerpoint/2010/main" val="1354934850"/>
      </p:ext>
    </p:extLst>
  </p:cSld>
</p:sld>
</file>

<file path=ppt/slides/slide10.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7297AC-1CD4-4F1A-A040-A2B1EDC5A4FA}"/>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5E06C1A8-8BA9-4597-8C40-76F39D8230F8}"/>
              </a:ext>
            </a:extLst>
          </p:cNvPr>
          <p:cNvSpPr>
            <a:spLocks xmlns:a="http://schemas.openxmlformats.org/drawingml/2006/main" noGrp="1"/>
          </p:cNvSpPr>
          <p:nvPr/>
        </p:nvSpPr>
        <p:spPr>
          <a:xfrm xmlns:a="http://schemas.openxmlformats.org/drawingml/2006/main">
            <a:off x="647700" y="990600"/>
            <a:ext cx="74771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63B32"/>
                </a:solidFill>
              </a:defRPr>
            </a:defPPr>
            <a:lvl1pPr>
              <a:defRPr sz="3375" b="1">
                <a:solidFill>
                  <a:srgbClr val="163B32"/>
                </a:solidFill>
              </a:defRPr>
            </a:lvl1pPr>
            <a:lvl2pPr>
              <a:defRPr sz="3375" b="1">
                <a:solidFill>
                  <a:srgbClr val="163B32"/>
                </a:solidFill>
              </a:defRPr>
            </a:lvl2pPr>
            <a:lvl3pPr>
              <a:defRPr sz="3375" b="1">
                <a:solidFill>
                  <a:srgbClr val="163B32"/>
                </a:solidFill>
              </a:defRPr>
            </a:lvl3pPr>
            <a:lvl4pPr>
              <a:defRPr sz="3375" b="1">
                <a:solidFill>
                  <a:srgbClr val="163B32"/>
                </a:solidFill>
              </a:defRPr>
            </a:lvl4pPr>
            <a:lvl5pPr>
              <a:defRPr sz="3375" b="1">
                <a:solidFill>
                  <a:srgbClr val="163B32"/>
                </a:solidFill>
              </a:defRPr>
            </a:lvl5pPr>
            <a:lvl6pPr>
              <a:defRPr sz="3375" b="1">
                <a:solidFill>
                  <a:srgbClr val="163B32"/>
                </a:solidFill>
              </a:defRPr>
            </a:lvl6pPr>
            <a:lvl7pPr>
              <a:defRPr sz="3375" b="1">
                <a:solidFill>
                  <a:srgbClr val="163B32"/>
                </a:solidFill>
              </a:defRPr>
            </a:lvl7pPr>
            <a:lvl8pPr>
              <a:defRPr sz="3375" b="1">
                <a:solidFill>
                  <a:srgbClr val="163B32"/>
                </a:solidFill>
              </a:defRPr>
            </a:lvl8pPr>
            <a:lvl9pPr>
              <a:defRPr sz="3375" b="1">
                <a:solidFill>
                  <a:srgbClr val="163B32"/>
                </a:solidFill>
              </a:defRPr>
            </a:lvl9pPr>
          </a:lstStyle>
          <a:p xmlns:a="http://schemas.openxmlformats.org/drawingml/2006/main">
            <a:pPr>
              <a:defRPr sz="3375" b="1">
                <a:solidFill>
                  <a:srgbClr val="163B32"/>
                </a:solidFill>
              </a:defRPr>
            </a:pPr>
            <a:r>
              <a:rPr sz="3375" b="1">
                <a:solidFill>
                  <a:srgbClr val="163B32"/>
                </a:solidFill>
              </a:rPr>
              <a:t>Accessibility and design review</a:t>
            </a:r>
          </a:p>
        </p:txBody>
      </p:sp>
      <p:sp>
        <p:nvSpPr>
          <p:cNvPr id="3" name="">
            <a:extLst xmlns:a="http://schemas.openxmlformats.org/drawingml/2006/main">
              <a:ext uri="{FF2B5EF4-FFF2-40B4-BE49-F238E27FC236}">
                <a16:creationId xmlns:a16="http://schemas.microsoft.com/office/drawing/2014/main" id="{59C6CB99-C92D-44A6-AAE0-054E872F2253}"/>
              </a:ext>
            </a:extLst>
          </p:cNvPr>
          <p:cNvSpPr>
            <a:spLocks xmlns:a="http://schemas.openxmlformats.org/drawingml/2006/main" noGrp="1"/>
          </p:cNvSpPr>
          <p:nvPr/>
        </p:nvSpPr>
        <p:spPr>
          <a:xfrm xmlns:a="http://schemas.openxmlformats.org/drawingml/2006/main">
            <a:off x="685800" y="2228850"/>
            <a:ext cx="704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26B5B"/>
                </a:solidFill>
              </a:defRPr>
            </a:defPPr>
            <a:lvl1pPr>
              <a:defRPr sz="2025" b="0">
                <a:solidFill>
                  <a:srgbClr val="426B5B"/>
                </a:solidFill>
              </a:defRPr>
            </a:lvl1pPr>
            <a:lvl2pPr>
              <a:defRPr sz="2025" b="0">
                <a:solidFill>
                  <a:srgbClr val="426B5B"/>
                </a:solidFill>
              </a:defRPr>
            </a:lvl2pPr>
            <a:lvl3pPr>
              <a:defRPr sz="2025" b="0">
                <a:solidFill>
                  <a:srgbClr val="426B5B"/>
                </a:solidFill>
              </a:defRPr>
            </a:lvl3pPr>
            <a:lvl4pPr>
              <a:defRPr sz="2025" b="0">
                <a:solidFill>
                  <a:srgbClr val="426B5B"/>
                </a:solidFill>
              </a:defRPr>
            </a:lvl4pPr>
            <a:lvl5pPr>
              <a:defRPr sz="2025" b="0">
                <a:solidFill>
                  <a:srgbClr val="426B5B"/>
                </a:solidFill>
              </a:defRPr>
            </a:lvl5pPr>
            <a:lvl6pPr>
              <a:defRPr sz="2025" b="0">
                <a:solidFill>
                  <a:srgbClr val="426B5B"/>
                </a:solidFill>
              </a:defRPr>
            </a:lvl6pPr>
            <a:lvl7pPr>
              <a:defRPr sz="2025" b="0">
                <a:solidFill>
                  <a:srgbClr val="426B5B"/>
                </a:solidFill>
              </a:defRPr>
            </a:lvl7pPr>
            <a:lvl8pPr>
              <a:defRPr sz="2025" b="0">
                <a:solidFill>
                  <a:srgbClr val="426B5B"/>
                </a:solidFill>
              </a:defRPr>
            </a:lvl8pPr>
            <a:lvl9pPr>
              <a:defRPr sz="2025" b="0">
                <a:solidFill>
                  <a:srgbClr val="426B5B"/>
                </a:solidFill>
              </a:defRPr>
            </a:lvl9pPr>
          </a:lstStyle>
          <a:p xmlns:a="http://schemas.openxmlformats.org/drawingml/2006/main">
            <a:pPr>
              <a:defRPr sz="2025" b="0">
                <a:solidFill>
                  <a:srgbClr val="426B5B"/>
                </a:solidFill>
              </a:defRPr>
            </a:pPr>
            <a:r>
              <a:rPr sz="2025" b="0">
                <a:solidFill>
                  <a:srgbClr val="426B5B"/>
                </a:solidFill>
              </a:rPr>
              <a:t>Afeef demonstration</a:t>
            </a:r>
          </a:p>
        </p:txBody>
      </p:sp>
      <p:sp>
        <p:nvSpPr>
          <p:cNvPr id="4" name="">
            <a:extLst xmlns:a="http://schemas.openxmlformats.org/drawingml/2006/main">
              <a:ext uri="{FF2B5EF4-FFF2-40B4-BE49-F238E27FC236}">
                <a16:creationId xmlns:a16="http://schemas.microsoft.com/office/drawing/2014/main" id="{FE49B6C0-0E67-490B-8346-7B164B1ECE44}"/>
              </a:ext>
            </a:extLst>
          </p:cNvPr>
          <p:cNvSpPr>
            <a:spLocks xmlns:a="http://schemas.openxmlformats.org/drawingml/2006/main" noGrp="1"/>
          </p:cNvSpPr>
          <p:nvPr/>
        </p:nvSpPr>
        <p:spPr>
          <a:xfrm xmlns:a="http://schemas.openxmlformats.org/drawingml/2006/main">
            <a:off x="685800" y="33337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Readable progress shows saved sets and actual reps</a:t>
            </a:r>
          </a:p>
        </p:txBody>
      </p:sp>
      <p:sp>
        <p:nvSpPr>
          <p:cNvPr id="5" name="">
            <a:extLst xmlns:a="http://schemas.openxmlformats.org/drawingml/2006/main">
              <a:ext uri="{FF2B5EF4-FFF2-40B4-BE49-F238E27FC236}">
                <a16:creationId xmlns:a16="http://schemas.microsoft.com/office/drawing/2014/main" id="{0A13E827-DD4A-496F-808E-87F1A2CE9FC1}"/>
              </a:ext>
            </a:extLst>
          </p:cNvPr>
          <p:cNvSpPr>
            <a:spLocks xmlns:a="http://schemas.openxmlformats.org/drawingml/2006/main" noGrp="1"/>
          </p:cNvSpPr>
          <p:nvPr/>
        </p:nvSpPr>
        <p:spPr>
          <a:xfrm xmlns:a="http://schemas.openxmlformats.org/drawingml/2006/main">
            <a:off x="685800" y="41719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Invalid set count receives an inline explanation</a:t>
            </a:r>
          </a:p>
        </p:txBody>
      </p:sp>
      <p:sp>
        <p:nvSpPr>
          <p:cNvPr id="6" name="">
            <a:extLst xmlns:a="http://schemas.openxmlformats.org/drawingml/2006/main">
              <a:ext uri="{FF2B5EF4-FFF2-40B4-BE49-F238E27FC236}">
                <a16:creationId xmlns:a16="http://schemas.microsoft.com/office/drawing/2014/main" id="{9478D830-6C6A-4DCF-AB8E-22CD45F32E3D}"/>
              </a:ext>
            </a:extLst>
          </p:cNvPr>
          <p:cNvSpPr>
            <a:spLocks xmlns:a="http://schemas.openxmlformats.org/drawingml/2006/main" noGrp="1"/>
          </p:cNvSpPr>
          <p:nvPr/>
        </p:nvSpPr>
        <p:spPr>
          <a:xfrm xmlns:a="http://schemas.openxmlformats.org/drawingml/2006/main">
            <a:off x="685800" y="501015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Peer review and settings evidence remain to capture</a:t>
            </a:r>
          </a:p>
        </p:txBody>
      </p:sp>
      <p:pic>
        <p:nvPicPr>
          <p:cNvPr id="7" name="">
            <a:extLst xmlns:a="http://schemas.openxmlformats.org/drawingml/2006/main">
              <a:ext uri="{FF2B5EF4-FFF2-40B4-BE49-F238E27FC236}">
                <a16:creationId xmlns:a16="http://schemas.microsoft.com/office/drawing/2014/main" id="{0C80B098-4433-4E0B-ADD8-B6E002EB41DC}"/>
              </a:ext>
            </a:extLst>
          </p:cNvPr>
          <p:cNvPicPr>
            <a:picLocks xmlns:a="http://schemas.openxmlformats.org/drawingml/2006/main" noChangeAspect="1"/>
          </p:cNvPicPr>
          <p:nvPr/>
        </p:nvPicPr>
        <p:blipFill>
          <a:blip xmlns:r="http://schemas.openxmlformats.org/officeDocument/2006/relationships" xmlns:a="http://schemas.openxmlformats.org/drawingml/2006/main" r:embed="R2f753aad05dd47d1"/>
          <a:stretch xmlns:a="http://schemas.openxmlformats.org/drawingml/2006/main"/>
        </p:blipFill>
        <p:spPr>
          <a:xfrm xmlns:a="http://schemas.openxmlformats.org/drawingml/2006/main">
            <a:off x="8790204" y="800100"/>
            <a:ext cx="2536392" cy="5286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8FC5C11-460A-4238-BB54-1665DF0E383C}"/>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10 / 12</a:t>
            </a:r>
          </a:p>
        </p:txBody>
      </p:sp>
    </p:spTree>
    <p:extLst>
      <p:ext uri="{BB962C8B-B14F-4D97-AF65-F5344CB8AC3E}">
        <p14:creationId xmlns:p14="http://schemas.microsoft.com/office/powerpoint/2010/main" val="357547706"/>
      </p:ext>
    </p:extLst>
  </p:cSld>
</p:sld>
</file>

<file path=ppt/slides/slide11.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557D26-7293-4B33-B01A-5C130E7A4C41}"/>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03F09D21-8471-4C2B-8016-3FA6E6D51734}"/>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63B32"/>
                </a:solidFill>
              </a:defRPr>
            </a:defPPr>
            <a:lvl1pPr>
              <a:defRPr sz="3375" b="1">
                <a:solidFill>
                  <a:srgbClr val="163B32"/>
                </a:solidFill>
              </a:defRPr>
            </a:lvl1pPr>
            <a:lvl2pPr>
              <a:defRPr sz="3375" b="1">
                <a:solidFill>
                  <a:srgbClr val="163B32"/>
                </a:solidFill>
              </a:defRPr>
            </a:lvl2pPr>
            <a:lvl3pPr>
              <a:defRPr sz="3375" b="1">
                <a:solidFill>
                  <a:srgbClr val="163B32"/>
                </a:solidFill>
              </a:defRPr>
            </a:lvl3pPr>
            <a:lvl4pPr>
              <a:defRPr sz="3375" b="1">
                <a:solidFill>
                  <a:srgbClr val="163B32"/>
                </a:solidFill>
              </a:defRPr>
            </a:lvl4pPr>
            <a:lvl5pPr>
              <a:defRPr sz="3375" b="1">
                <a:solidFill>
                  <a:srgbClr val="163B32"/>
                </a:solidFill>
              </a:defRPr>
            </a:lvl5pPr>
            <a:lvl6pPr>
              <a:defRPr sz="3375" b="1">
                <a:solidFill>
                  <a:srgbClr val="163B32"/>
                </a:solidFill>
              </a:defRPr>
            </a:lvl6pPr>
            <a:lvl7pPr>
              <a:defRPr sz="3375" b="1">
                <a:solidFill>
                  <a:srgbClr val="163B32"/>
                </a:solidFill>
              </a:defRPr>
            </a:lvl7pPr>
            <a:lvl8pPr>
              <a:defRPr sz="3375" b="1">
                <a:solidFill>
                  <a:srgbClr val="163B32"/>
                </a:solidFill>
              </a:defRPr>
            </a:lvl8pPr>
            <a:lvl9pPr>
              <a:defRPr sz="3375" b="1">
                <a:solidFill>
                  <a:srgbClr val="163B32"/>
                </a:solidFill>
              </a:defRPr>
            </a:lvl9pPr>
          </a:lstStyle>
          <a:p xmlns:a="http://schemas.openxmlformats.org/drawingml/2006/main">
            <a:pPr>
              <a:defRPr sz="3375" b="1">
                <a:solidFill>
                  <a:srgbClr val="163B32"/>
                </a:solidFill>
              </a:defRPr>
            </a:pPr>
            <a:r>
              <a:rPr sz="3375" b="1">
                <a:solidFill>
                  <a:srgbClr val="163B32"/>
                </a:solidFill>
              </a:rPr>
              <a:t>Individual task evidence</a:t>
            </a:r>
          </a:p>
        </p:txBody>
      </p:sp>
      <p:sp>
        <p:nvSpPr>
          <p:cNvPr id="3" name="">
            <a:extLst xmlns:a="http://schemas.openxmlformats.org/drawingml/2006/main">
              <a:ext uri="{FF2B5EF4-FFF2-40B4-BE49-F238E27FC236}">
                <a16:creationId xmlns:a16="http://schemas.microsoft.com/office/drawing/2014/main" id="{FC07204D-C1A9-48AD-818B-94E41CE5DF7B}"/>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26B5B"/>
                </a:solidFill>
              </a:defRPr>
            </a:defPPr>
            <a:lvl1pPr>
              <a:defRPr sz="2025" b="0">
                <a:solidFill>
                  <a:srgbClr val="426B5B"/>
                </a:solidFill>
              </a:defRPr>
            </a:lvl1pPr>
            <a:lvl2pPr>
              <a:defRPr sz="2025" b="0">
                <a:solidFill>
                  <a:srgbClr val="426B5B"/>
                </a:solidFill>
              </a:defRPr>
            </a:lvl2pPr>
            <a:lvl3pPr>
              <a:defRPr sz="2025" b="0">
                <a:solidFill>
                  <a:srgbClr val="426B5B"/>
                </a:solidFill>
              </a:defRPr>
            </a:lvl3pPr>
            <a:lvl4pPr>
              <a:defRPr sz="2025" b="0">
                <a:solidFill>
                  <a:srgbClr val="426B5B"/>
                </a:solidFill>
              </a:defRPr>
            </a:lvl4pPr>
            <a:lvl5pPr>
              <a:defRPr sz="2025" b="0">
                <a:solidFill>
                  <a:srgbClr val="426B5B"/>
                </a:solidFill>
              </a:defRPr>
            </a:lvl5pPr>
            <a:lvl6pPr>
              <a:defRPr sz="2025" b="0">
                <a:solidFill>
                  <a:srgbClr val="426B5B"/>
                </a:solidFill>
              </a:defRPr>
            </a:lvl6pPr>
            <a:lvl7pPr>
              <a:defRPr sz="2025" b="0">
                <a:solidFill>
                  <a:srgbClr val="426B5B"/>
                </a:solidFill>
              </a:defRPr>
            </a:lvl7pPr>
            <a:lvl8pPr>
              <a:defRPr sz="2025" b="0">
                <a:solidFill>
                  <a:srgbClr val="426B5B"/>
                </a:solidFill>
              </a:defRPr>
            </a:lvl8pPr>
            <a:lvl9pPr>
              <a:defRPr sz="2025" b="0">
                <a:solidFill>
                  <a:srgbClr val="426B5B"/>
                </a:solidFill>
              </a:defRPr>
            </a:lvl9pPr>
          </a:lstStyle>
          <a:p xmlns:a="http://schemas.openxmlformats.org/drawingml/2006/main">
            <a:pPr>
              <a:defRPr sz="2025" b="0">
                <a:solidFill>
                  <a:srgbClr val="426B5B"/>
                </a:solidFill>
              </a:defRPr>
            </a:pPr>
            <a:r>
              <a:rPr sz="2025" b="0">
                <a:solidFill>
                  <a:srgbClr val="426B5B"/>
                </a:solidFill>
              </a:rPr>
              <a:t>R1</a:t>
            </a:r>
          </a:p>
        </p:txBody>
      </p:sp>
      <p:sp>
        <p:nvSpPr>
          <p:cNvPr id="4" name="">
            <a:extLst xmlns:a="http://schemas.openxmlformats.org/drawingml/2006/main">
              <a:ext uri="{FF2B5EF4-FFF2-40B4-BE49-F238E27FC236}">
                <a16:creationId xmlns:a16="http://schemas.microsoft.com/office/drawing/2014/main" id="{D3DF7F16-3C4B-4909-A805-ADB5269D1BCD}"/>
              </a:ext>
            </a:extLst>
          </p:cNvPr>
          <p:cNvSpPr>
            <a:spLocks xmlns:a="http://schemas.openxmlformats.org/drawingml/2006/main" noGrp="1"/>
          </p:cNvSpPr>
          <p:nvPr/>
        </p:nvSpPr>
        <p:spPr>
          <a:xfrm xmlns:a="http://schemas.openxmlformats.org/drawingml/2006/main">
            <a:off x="685800" y="33337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Afeef: original UI ownership with actual code/review trace</a:t>
            </a:r>
          </a:p>
        </p:txBody>
      </p:sp>
      <p:sp>
        <p:nvSpPr>
          <p:cNvPr id="5" name="">
            <a:extLst xmlns:a="http://schemas.openxmlformats.org/drawingml/2006/main">
              <a:ext uri="{FF2B5EF4-FFF2-40B4-BE49-F238E27FC236}">
                <a16:creationId xmlns:a16="http://schemas.microsoft.com/office/drawing/2014/main" id="{0E6A130D-0EF1-4CB7-8C0F-633D6C40C177}"/>
              </a:ext>
            </a:extLst>
          </p:cNvPr>
          <p:cNvSpPr>
            <a:spLocks xmlns:a="http://schemas.openxmlformats.org/drawingml/2006/main" noGrp="1"/>
          </p:cNvSpPr>
          <p:nvPr/>
        </p:nvSpPr>
        <p:spPr>
          <a:xfrm xmlns:a="http://schemas.openxmlformats.org/drawingml/2006/main">
            <a:off x="685800" y="41719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Samad: original data/quality ownership with actual trace</a:t>
            </a:r>
          </a:p>
        </p:txBody>
      </p:sp>
      <p:sp>
        <p:nvSpPr>
          <p:cNvPr id="6" name="">
            <a:extLst xmlns:a="http://schemas.openxmlformats.org/drawingml/2006/main">
              <a:ext uri="{FF2B5EF4-FFF2-40B4-BE49-F238E27FC236}">
                <a16:creationId xmlns:a16="http://schemas.microsoft.com/office/drawing/2014/main" id="{1F13C75F-4862-46B8-93A5-A303609F545C}"/>
              </a:ext>
            </a:extLst>
          </p:cNvPr>
          <p:cNvSpPr>
            <a:spLocks xmlns:a="http://schemas.openxmlformats.org/drawingml/2006/main" noGrp="1"/>
          </p:cNvSpPr>
          <p:nvPr/>
        </p:nvSpPr>
        <p:spPr>
          <a:xfrm xmlns:a="http://schemas.openxmlformats.org/drawingml/2006/main">
            <a:off x="685800" y="50101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ClickUp task, commit, code and test result</a:t>
            </a:r>
          </a:p>
        </p:txBody>
      </p:sp>
      <p:sp>
        <p:nvSpPr>
          <p:cNvPr id="7" name="">
            <a:extLst xmlns:a="http://schemas.openxmlformats.org/drawingml/2006/main">
              <a:ext uri="{FF2B5EF4-FFF2-40B4-BE49-F238E27FC236}">
                <a16:creationId xmlns:a16="http://schemas.microsoft.com/office/drawing/2014/main" id="{FB38D248-A667-4485-A481-706A3C523AE6}"/>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11 / 12</a:t>
            </a:r>
          </a:p>
        </p:txBody>
      </p:sp>
    </p:spTree>
    <p:extLst>
      <p:ext uri="{BB962C8B-B14F-4D97-AF65-F5344CB8AC3E}">
        <p14:creationId xmlns:p14="http://schemas.microsoft.com/office/powerpoint/2010/main" val="731806171"/>
      </p:ext>
    </p:extLst>
  </p:cSld>
</p:sld>
</file>

<file path=ppt/slides/slide1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1BBA8B-82CC-40EB-A5F8-1B1BB5BB8165}"/>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07B4333B-FED7-4ACE-9D13-FF04BEA3525B}"/>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63B32"/>
                </a:solidFill>
              </a:defRPr>
            </a:defPPr>
            <a:lvl1pPr>
              <a:defRPr sz="3375" b="1">
                <a:solidFill>
                  <a:srgbClr val="163B32"/>
                </a:solidFill>
              </a:defRPr>
            </a:lvl1pPr>
            <a:lvl2pPr>
              <a:defRPr sz="3375" b="1">
                <a:solidFill>
                  <a:srgbClr val="163B32"/>
                </a:solidFill>
              </a:defRPr>
            </a:lvl2pPr>
            <a:lvl3pPr>
              <a:defRPr sz="3375" b="1">
                <a:solidFill>
                  <a:srgbClr val="163B32"/>
                </a:solidFill>
              </a:defRPr>
            </a:lvl3pPr>
            <a:lvl4pPr>
              <a:defRPr sz="3375" b="1">
                <a:solidFill>
                  <a:srgbClr val="163B32"/>
                </a:solidFill>
              </a:defRPr>
            </a:lvl4pPr>
            <a:lvl5pPr>
              <a:defRPr sz="3375" b="1">
                <a:solidFill>
                  <a:srgbClr val="163B32"/>
                </a:solidFill>
              </a:defRPr>
            </a:lvl5pPr>
            <a:lvl6pPr>
              <a:defRPr sz="3375" b="1">
                <a:solidFill>
                  <a:srgbClr val="163B32"/>
                </a:solidFill>
              </a:defRPr>
            </a:lvl6pPr>
            <a:lvl7pPr>
              <a:defRPr sz="3375" b="1">
                <a:solidFill>
                  <a:srgbClr val="163B32"/>
                </a:solidFill>
              </a:defRPr>
            </a:lvl7pPr>
            <a:lvl8pPr>
              <a:defRPr sz="3375" b="1">
                <a:solidFill>
                  <a:srgbClr val="163B32"/>
                </a:solidFill>
              </a:defRPr>
            </a:lvl8pPr>
            <a:lvl9pPr>
              <a:defRPr sz="3375" b="1">
                <a:solidFill>
                  <a:srgbClr val="163B32"/>
                </a:solidFill>
              </a:defRPr>
            </a:lvl9pPr>
          </a:lstStyle>
          <a:p xmlns:a="http://schemas.openxmlformats.org/drawingml/2006/main">
            <a:pPr>
              <a:defRPr sz="3375" b="1">
                <a:solidFill>
                  <a:srgbClr val="163B32"/>
                </a:solidFill>
              </a:defRPr>
            </a:pPr>
            <a:r>
              <a:rPr sz="3375" b="1">
                <a:solidFill>
                  <a:srgbClr val="163B32"/>
                </a:solidFill>
              </a:rPr>
              <a:t>Release and reflection</a:t>
            </a:r>
          </a:p>
        </p:txBody>
      </p:sp>
      <p:sp>
        <p:nvSpPr>
          <p:cNvPr id="3" name="">
            <a:extLst xmlns:a="http://schemas.openxmlformats.org/drawingml/2006/main">
              <a:ext uri="{FF2B5EF4-FFF2-40B4-BE49-F238E27FC236}">
                <a16:creationId xmlns:a16="http://schemas.microsoft.com/office/drawing/2014/main" id="{F9A8F0F8-9BEC-4203-941D-4F0844D74D95}"/>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26B5B"/>
                </a:solidFill>
              </a:defRPr>
            </a:defPPr>
            <a:lvl1pPr>
              <a:defRPr sz="2025" b="0">
                <a:solidFill>
                  <a:srgbClr val="426B5B"/>
                </a:solidFill>
              </a:defRPr>
            </a:lvl1pPr>
            <a:lvl2pPr>
              <a:defRPr sz="2025" b="0">
                <a:solidFill>
                  <a:srgbClr val="426B5B"/>
                </a:solidFill>
              </a:defRPr>
            </a:lvl2pPr>
            <a:lvl3pPr>
              <a:defRPr sz="2025" b="0">
                <a:solidFill>
                  <a:srgbClr val="426B5B"/>
                </a:solidFill>
              </a:defRPr>
            </a:lvl3pPr>
            <a:lvl4pPr>
              <a:defRPr sz="2025" b="0">
                <a:solidFill>
                  <a:srgbClr val="426B5B"/>
                </a:solidFill>
              </a:defRPr>
            </a:lvl4pPr>
            <a:lvl5pPr>
              <a:defRPr sz="2025" b="0">
                <a:solidFill>
                  <a:srgbClr val="426B5B"/>
                </a:solidFill>
              </a:defRPr>
            </a:lvl5pPr>
            <a:lvl6pPr>
              <a:defRPr sz="2025" b="0">
                <a:solidFill>
                  <a:srgbClr val="426B5B"/>
                </a:solidFill>
              </a:defRPr>
            </a:lvl6pPr>
            <a:lvl7pPr>
              <a:defRPr sz="2025" b="0">
                <a:solidFill>
                  <a:srgbClr val="426B5B"/>
                </a:solidFill>
              </a:defRPr>
            </a:lvl7pPr>
            <a:lvl8pPr>
              <a:defRPr sz="2025" b="0">
                <a:solidFill>
                  <a:srgbClr val="426B5B"/>
                </a:solidFill>
              </a:defRPr>
            </a:lvl8pPr>
            <a:lvl9pPr>
              <a:defRPr sz="2025" b="0">
                <a:solidFill>
                  <a:srgbClr val="426B5B"/>
                </a:solidFill>
              </a:defRPr>
            </a:lvl9pPr>
          </a:lstStyle>
          <a:p xmlns:a="http://schemas.openxmlformats.org/drawingml/2006/main">
            <a:pPr>
              <a:defRPr sz="2025" b="0">
                <a:solidFill>
                  <a:srgbClr val="426B5B"/>
                </a:solidFill>
              </a:defRPr>
            </a:pPr>
            <a:r>
              <a:rPr sz="2025" b="0">
                <a:solidFill>
                  <a:srgbClr val="426B5B"/>
                </a:solidFill>
              </a:rPr>
              <a:t>Final verification</a:t>
            </a:r>
          </a:p>
        </p:txBody>
      </p:sp>
      <p:sp>
        <p:nvSpPr>
          <p:cNvPr id="4" name="">
            <a:extLst xmlns:a="http://schemas.openxmlformats.org/drawingml/2006/main">
              <a:ext uri="{FF2B5EF4-FFF2-40B4-BE49-F238E27FC236}">
                <a16:creationId xmlns:a16="http://schemas.microsoft.com/office/drawing/2014/main" id="{4274D8EB-C5D0-46A5-836A-E910D02C2379}"/>
              </a:ext>
            </a:extLst>
          </p:cNvPr>
          <p:cNvSpPr>
            <a:spLocks xmlns:a="http://schemas.openxmlformats.org/drawingml/2006/main" noGrp="1"/>
          </p:cNvSpPr>
          <p:nvPr/>
        </p:nvSpPr>
        <p:spPr>
          <a:xfrm xmlns:a="http://schemas.openxmlformats.org/drawingml/2006/main">
            <a:off x="685800" y="33337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APK launch reported on two devices</a:t>
            </a:r>
          </a:p>
        </p:txBody>
      </p:sp>
      <p:sp>
        <p:nvSpPr>
          <p:cNvPr id="5" name="">
            <a:extLst xmlns:a="http://schemas.openxmlformats.org/drawingml/2006/main">
              <a:ext uri="{FF2B5EF4-FFF2-40B4-BE49-F238E27FC236}">
                <a16:creationId xmlns:a16="http://schemas.microsoft.com/office/drawing/2014/main" id="{A9463876-787F-4B00-BFCE-0EF5C19140EB}"/>
              </a:ext>
            </a:extLst>
          </p:cNvPr>
          <p:cNvSpPr>
            <a:spLocks xmlns:a="http://schemas.openxmlformats.org/drawingml/2006/main" noGrp="1"/>
          </p:cNvSpPr>
          <p:nvPr/>
        </p:nvSpPr>
        <p:spPr>
          <a:xfrm xmlns:a="http://schemas.openxmlformats.org/drawingml/2006/main">
            <a:off x="685800" y="41719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Finish acceptance tests and submission evidence</a:t>
            </a:r>
          </a:p>
        </p:txBody>
      </p:sp>
      <p:sp>
        <p:nvSpPr>
          <p:cNvPr id="6" name="">
            <a:extLst xmlns:a="http://schemas.openxmlformats.org/drawingml/2006/main">
              <a:ext uri="{FF2B5EF4-FFF2-40B4-BE49-F238E27FC236}">
                <a16:creationId xmlns:a16="http://schemas.microsoft.com/office/drawing/2014/main" id="{F5332F1E-001E-4D0E-AE7D-BC363EDD4940}"/>
              </a:ext>
            </a:extLst>
          </p:cNvPr>
          <p:cNvSpPr>
            <a:spLocks xmlns:a="http://schemas.openxmlformats.org/drawingml/2006/main" noGrp="1"/>
          </p:cNvSpPr>
          <p:nvPr/>
        </p:nvSpPr>
        <p:spPr>
          <a:xfrm xmlns:a="http://schemas.openxmlformats.org/drawingml/2006/main">
            <a:off x="685800" y="50101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3C33"/>
                </a:solidFill>
              </a:defRPr>
            </a:defPPr>
            <a:lvl1pPr>
              <a:defRPr sz="2025" b="0">
                <a:solidFill>
                  <a:srgbClr val="253C33"/>
                </a:solidFill>
              </a:defRPr>
            </a:lvl1pPr>
            <a:lvl2pPr>
              <a:defRPr sz="2025" b="0">
                <a:solidFill>
                  <a:srgbClr val="253C33"/>
                </a:solidFill>
              </a:defRPr>
            </a:lvl2pPr>
            <a:lvl3pPr>
              <a:defRPr sz="2025" b="0">
                <a:solidFill>
                  <a:srgbClr val="253C33"/>
                </a:solidFill>
              </a:defRPr>
            </a:lvl3pPr>
            <a:lvl4pPr>
              <a:defRPr sz="2025" b="0">
                <a:solidFill>
                  <a:srgbClr val="253C33"/>
                </a:solidFill>
              </a:defRPr>
            </a:lvl4pPr>
            <a:lvl5pPr>
              <a:defRPr sz="2025" b="0">
                <a:solidFill>
                  <a:srgbClr val="253C33"/>
                </a:solidFill>
              </a:defRPr>
            </a:lvl5pPr>
            <a:lvl6pPr>
              <a:defRPr sz="2025" b="0">
                <a:solidFill>
                  <a:srgbClr val="253C33"/>
                </a:solidFill>
              </a:defRPr>
            </a:lvl6pPr>
            <a:lvl7pPr>
              <a:defRPr sz="2025" b="0">
                <a:solidFill>
                  <a:srgbClr val="253C33"/>
                </a:solidFill>
              </a:defRPr>
            </a:lvl7pPr>
            <a:lvl8pPr>
              <a:defRPr sz="2025" b="0">
                <a:solidFill>
                  <a:srgbClr val="253C33"/>
                </a:solidFill>
              </a:defRPr>
            </a:lvl8pPr>
            <a:lvl9pPr>
              <a:defRPr sz="2025" b="0">
                <a:solidFill>
                  <a:srgbClr val="253C33"/>
                </a:solidFill>
              </a:defRPr>
            </a:lvl9pPr>
          </a:lstStyle>
          <a:p xmlns:a="http://schemas.openxmlformats.org/drawingml/2006/main">
            <a:pPr>
              <a:defRPr sz="2025" b="0">
                <a:solidFill>
                  <a:srgbClr val="253C33"/>
                </a:solidFill>
              </a:defRPr>
            </a:pPr>
            <a:r>
              <a:rPr sz="2025" b="0">
                <a:solidFill>
                  <a:srgbClr val="253C33"/>
                </a:solidFill>
              </a:rPr>
              <a:t>Each member adds their own learning reflection</a:t>
            </a:r>
          </a:p>
        </p:txBody>
      </p:sp>
      <p:sp>
        <p:nvSpPr>
          <p:cNvPr id="7" name="">
            <a:extLst xmlns:a="http://schemas.openxmlformats.org/drawingml/2006/main">
              <a:ext uri="{FF2B5EF4-FFF2-40B4-BE49-F238E27FC236}">
                <a16:creationId xmlns:a16="http://schemas.microsoft.com/office/drawing/2014/main" id="{36E205AF-0E49-49F5-8385-6B2B4219C0D9}"/>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12 / 12</a:t>
            </a:r>
          </a:p>
        </p:txBody>
      </p:sp>
    </p:spTree>
    <p:extLst>
      <p:ext uri="{BB962C8B-B14F-4D97-AF65-F5344CB8AC3E}">
        <p14:creationId xmlns:p14="http://schemas.microsoft.com/office/powerpoint/2010/main" val="11490454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2026-10-25T00:26:59.1310000Z</dcterms:created>
  <dcterms:modified xsi:type="dcterms:W3CDTF">2026-10-25T00:26:59.1310000Z</dcterms:modified>
</coreProperties>
</file>